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06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封面</a:t>
            </a:r>
          </a:p>
          <a:p>
            <a:endParaRPr lang="zh-CN" dirty="0"/>
          </a:p>
          <a:p>
            <a:r>
              <a:rPr lang="zh-CN" dirty="0"/>
              <a:t>道德经 AI 平台 2.0 — 借助 AI 智慧探索老子思想的现代价值</a:t>
            </a:r>
          </a:p>
          <a:p>
            <a:endParaRPr lang="zh-CN" dirty="0"/>
          </a:p>
          <a:p>
            <a:r>
              <a:rPr lang="zh-CN" dirty="0"/>
              <a:t>传智杯 AI Web 开发赛道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目标用户</a:t>
            </a:r>
          </a:p>
          <a:p>
            <a:endParaRPr lang="zh-CN" dirty="0"/>
          </a:p>
          <a:p>
            <a:r>
              <a:rPr lang="zh-CN" dirty="0"/>
              <a:t>我们的目标用户分为三类：</a:t>
            </a:r>
          </a:p>
          <a:p>
            <a:endParaRPr lang="zh-CN" dirty="0"/>
          </a:p>
          <a:p>
            <a:r>
              <a:rPr lang="zh-CN" dirty="0"/>
              <a:t>C 端主要用户包括当代学习者（20-35 岁），他们接受过完整高等教育，对国学有好奇但被传统呈现劝退；以及修行者（30-55 岁），他们已经在读《道德经》，需要跨章查证、追问、记录的工具。</a:t>
            </a:r>
          </a:p>
          <a:p>
            <a:endParaRPr lang="zh-CN" dirty="0"/>
          </a:p>
          <a:p>
            <a:r>
              <a:rPr lang="zh-CN" dirty="0"/>
              <a:t>B 端次要用户是企业团队和教培机构，把"道学 + AI 解读"作为员工人文素养课、企业文化课的载体。</a:t>
            </a:r>
          </a:p>
          <a:p>
            <a:endParaRPr lang="zh-CN" dirty="0"/>
          </a:p>
          <a:p>
            <a:r>
              <a:rPr lang="zh-CN" dirty="0"/>
              <a:t>关键评估者是传智杯评委，学术 + 产业混合背景，30 秒内要看明白"这是什么、凭什么不一样、凭什么能赚钱"。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428750"/>
            <a:ext cx="9525" cy="4000500"/>
          </a:xfrm>
          <a:custGeom>
            <a:avLst/>
            <a:gdLst/>
            <a:ahLst/>
            <a:cxnLst/>
            <a:rect l="l" t="t" r="r" b="b"/>
            <a:pathLst>
              <a:path w="9525" h="4000500">
                <a:moveTo>
                  <a:pt x="0" y="0"/>
                </a:moveTo>
                <a:lnTo>
                  <a:pt x="0" y="400050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Ellipse 4"/>
          <p:cNvSpPr/>
          <p:nvPr/>
        </p:nvSpPr>
        <p:spPr>
          <a:xfrm>
            <a:off x="6057900" y="2628900"/>
            <a:ext cx="76200" cy="76200"/>
          </a:xfrm>
          <a:prstGeom prst="ellipse">
            <a:avLst/>
          </a:prstGeom>
          <a:solidFill>
            <a:srgbClr val="C44A2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72751" y="2785110"/>
            <a:ext cx="504649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道德经 AI 平台 2.0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31744" y="3552825"/>
            <a:ext cx="33285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借助 AI 智慧探索老子思想的现代价值</a:t>
            </a:r>
          </a:p>
        </p:txBody>
      </p:sp>
      <p:sp>
        <p:nvSpPr>
          <p:cNvPr id="7" name="Line 7"/>
          <p:cNvSpPr/>
          <p:nvPr/>
        </p:nvSpPr>
        <p:spPr>
          <a:xfrm>
            <a:off x="5143500" y="4000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4080415" y="4268152"/>
            <a:ext cx="40311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ADA6"/>
                </a:solidFill>
                <a:latin typeface="Segoe UI"/>
                <a:ea typeface="Microsoft YaHei"/>
                <a:cs typeface="Segoe UI"/>
              </a:rPr>
              <a:t>Vue 3 · Express · MySQL · DeepSeek · OpenRouter · OpenAI</a:t>
            </a:r>
          </a:p>
        </p:txBody>
      </p:sp>
      <p:sp>
        <p:nvSpPr>
          <p:cNvPr id="9" name="Rectangle 9"/>
          <p:cNvSpPr/>
          <p:nvPr/>
        </p:nvSpPr>
        <p:spPr>
          <a:xfrm>
            <a:off x="4667250" y="4953000"/>
            <a:ext cx="2857500" cy="476250"/>
          </a:xfrm>
          <a:prstGeom prst="roundRect">
            <a:avLst>
              <a:gd name="adj" fmla="val 50000"/>
            </a:avLst>
          </a:prstGeom>
          <a:noFill/>
          <a:ln w="14288">
            <a:solidFill>
              <a:srgbClr val="1A1A1A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190249" y="5128260"/>
            <a:ext cx="18115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传智杯 AI Web 开发赛道</a:t>
            </a:r>
          </a:p>
        </p:txBody>
      </p:sp>
      <p:sp>
        <p:nvSpPr>
          <p:cNvPr id="11" name="Line 11"/>
          <p:cNvSpPr/>
          <p:nvPr/>
        </p:nvSpPr>
        <p:spPr>
          <a:xfrm>
            <a:off x="11430000" y="1428750"/>
            <a:ext cx="9525" cy="4000500"/>
          </a:xfrm>
          <a:custGeom>
            <a:avLst/>
            <a:gdLst/>
            <a:ahLst/>
            <a:cxnLst/>
            <a:rect l="l" t="t" r="r" b="b"/>
            <a:pathLst>
              <a:path w="9525" h="4000500">
                <a:moveTo>
                  <a:pt x="0" y="0"/>
                </a:moveTo>
                <a:lnTo>
                  <a:pt x="0" y="400050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1AED9D6B-CD47-473E-7F3A-7C2A3A046311}"/>
              </a:ext>
            </a:extLst>
          </p:cNvPr>
          <p:cNvGrpSpPr/>
          <p:nvPr/>
        </p:nvGrpSpPr>
        <p:grpSpPr>
          <a:xfrm>
            <a:off x="5638800" y="1543050"/>
            <a:ext cx="914400" cy="914400"/>
            <a:chOff x="5638800" y="1543050"/>
            <a:chExt cx="914400" cy="914400"/>
          </a:xfrm>
        </p:grpSpPr>
        <p:sp>
          <p:nvSpPr>
            <p:cNvPr id="13" name="Ellipse 4">
              <a:extLst>
                <a:ext uri="{FF2B5EF4-FFF2-40B4-BE49-F238E27FC236}">
                  <a16:creationId xmlns:a16="http://schemas.microsoft.com/office/drawing/2014/main" id="{997351B5-2456-ED39-C354-DBB2FA5FA23C}"/>
                </a:ext>
              </a:extLst>
            </p:cNvPr>
            <p:cNvSpPr/>
            <p:nvPr/>
          </p:nvSpPr>
          <p:spPr>
            <a:xfrm>
              <a:off x="5638800" y="1543050"/>
              <a:ext cx="914400" cy="914400"/>
            </a:xfrm>
            <a:prstGeom prst="ellipse">
              <a:avLst/>
            </a:prstGeom>
            <a:noFill/>
            <a:ln w="11430">
              <a:solidFill>
                <a:srgbClr val="1A1A1A"/>
              </a:solidFill>
            </a:ln>
          </p:spPr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4AE93A41-D104-A3BA-E9DA-80BE752CC3F4}"/>
                </a:ext>
              </a:extLst>
            </p:cNvPr>
            <p:cNvSpPr/>
            <p:nvPr/>
          </p:nvSpPr>
          <p:spPr>
            <a:xfrm>
              <a:off x="5638800" y="154305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457200" y="0"/>
                  </a:moveTo>
                  <a:cubicBezTo>
                    <a:pt x="583452" y="0"/>
                    <a:pt x="685800" y="102348"/>
                    <a:pt x="685800" y="228600"/>
                  </a:cubicBezTo>
                  <a:cubicBezTo>
                    <a:pt x="685800" y="354852"/>
                    <a:pt x="583452" y="457200"/>
                    <a:pt x="457200" y="457200"/>
                  </a:cubicBezTo>
                  <a:cubicBezTo>
                    <a:pt x="330948" y="457200"/>
                    <a:pt x="228600" y="559548"/>
                    <a:pt x="228600" y="685800"/>
                  </a:cubicBezTo>
                  <a:cubicBezTo>
                    <a:pt x="228600" y="812052"/>
                    <a:pt x="330948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noFill/>
            <a:ln w="11430">
              <a:solidFill>
                <a:srgbClr val="1A1A1A"/>
              </a:solidFill>
            </a:ln>
          </p:spPr>
        </p:sp>
        <p:sp>
          <p:nvSpPr>
            <p:cNvPr id="15" name="Ellipse 6">
              <a:extLst>
                <a:ext uri="{FF2B5EF4-FFF2-40B4-BE49-F238E27FC236}">
                  <a16:creationId xmlns:a16="http://schemas.microsoft.com/office/drawing/2014/main" id="{A2C6D8C4-0C2C-D3D8-E22A-6D1FD1915A6E}"/>
                </a:ext>
              </a:extLst>
            </p:cNvPr>
            <p:cNvSpPr/>
            <p:nvPr/>
          </p:nvSpPr>
          <p:spPr>
            <a:xfrm>
              <a:off x="6067425" y="1743075"/>
              <a:ext cx="57150" cy="57150"/>
            </a:xfrm>
            <a:prstGeom prst="ellipse">
              <a:avLst/>
            </a:prstGeom>
            <a:noFill/>
            <a:ln w="11430">
              <a:solidFill>
                <a:srgbClr val="1A1A1A"/>
              </a:solidFill>
            </a:ln>
          </p:spPr>
        </p:sp>
        <p:sp>
          <p:nvSpPr>
            <p:cNvPr id="16" name="Ellipse 7">
              <a:extLst>
                <a:ext uri="{FF2B5EF4-FFF2-40B4-BE49-F238E27FC236}">
                  <a16:creationId xmlns:a16="http://schemas.microsoft.com/office/drawing/2014/main" id="{8E29E7D6-6783-7420-3C91-BF63C37FDF20}"/>
                </a:ext>
              </a:extLst>
            </p:cNvPr>
            <p:cNvSpPr/>
            <p:nvPr/>
          </p:nvSpPr>
          <p:spPr>
            <a:xfrm>
              <a:off x="6067425" y="2200275"/>
              <a:ext cx="57150" cy="57150"/>
            </a:xfrm>
            <a:prstGeom prst="ellipse">
              <a:avLst/>
            </a:prstGeom>
            <a:noFill/>
            <a:ln w="11430">
              <a:solidFill>
                <a:srgbClr val="1A1A1A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47700" y="933450"/>
            <a:ext cx="888682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0" dirty="0">
                <a:solidFill>
                  <a:srgbClr val="E0DDD6">
                    <a:alphaMod val="50000"/>
                  </a:srgbClr>
                </a:solidFill>
                <a:latin typeface="LXGW WenKai"/>
                <a:ea typeface="Microsoft YaHei"/>
                <a:cs typeface="LXGW WenKai"/>
              </a:rPr>
              <a:t>"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7330" y="14878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核心理念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6855" y="1949768"/>
            <a:ext cx="34547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D3D"/>
                </a:solidFill>
                <a:latin typeface="Segoe UI"/>
                <a:ea typeface="Microsoft YaHei"/>
                <a:cs typeface="Segoe UI"/>
              </a:rPr>
              <a:t>不是把古文翻译成白话，而是让《道德经》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6855" y="2216468"/>
            <a:ext cx="32386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D3D"/>
                </a:solidFill>
                <a:latin typeface="Segoe UI"/>
                <a:ea typeface="Microsoft YaHei"/>
                <a:cs typeface="Segoe UI"/>
              </a:rPr>
              <a:t>能进入一个 2026 年的人面对的真实问题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6855" y="2483168"/>
            <a:ext cx="23745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44A2B"/>
                </a:solidFill>
                <a:latin typeface="Segoe UI"/>
                <a:ea typeface="Microsoft YaHei"/>
                <a:cs typeface="Segoe UI"/>
              </a:rPr>
              <a:t>职业焦虑、人际、决策、伦理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6855" y="27498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D3D"/>
                </a:solidFill>
                <a:latin typeface="Segoe UI"/>
                <a:ea typeface="Microsoft YaHei"/>
                <a:cs typeface="Segoe UI"/>
              </a:rPr>
              <a:t>并仍然有效。</a:t>
            </a:r>
          </a:p>
        </p:txBody>
      </p:sp>
      <p:sp>
        <p:nvSpPr>
          <p:cNvPr id="10" name="Line 10"/>
          <p:cNvSpPr/>
          <p:nvPr/>
        </p:nvSpPr>
        <p:spPr>
          <a:xfrm>
            <a:off x="1524000" y="32385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497330" y="33928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成功标准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6855" y="3854768"/>
            <a:ext cx="23745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D3D"/>
                </a:solidFill>
                <a:latin typeface="Segoe UI"/>
                <a:ea typeface="Microsoft YaHei"/>
                <a:cs typeface="Segoe UI"/>
              </a:rPr>
              <a:t>用户在某一次具体的犹豫里，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6855" y="412146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D3D3D"/>
                </a:solidFill>
                <a:latin typeface="Segoe UI"/>
                <a:ea typeface="Microsoft YaHei"/>
                <a:cs typeface="Segoe UI"/>
              </a:rPr>
              <a:t>真的回到了某一章，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6855" y="438816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C44A2B"/>
                </a:solidFill>
                <a:latin typeface="Segoe UI"/>
                <a:ea typeface="Microsoft YaHei"/>
                <a:cs typeface="Segoe UI"/>
              </a:rPr>
              <a:t>并用它做了一个决定。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7500" y="1428750"/>
            <a:ext cx="4000500" cy="1333500"/>
            <a:chOff x="6667500" y="1428750"/>
            <a:chExt cx="4000500" cy="1333500"/>
          </a:xfrm>
        </p:grpSpPr>
        <p:sp>
          <p:nvSpPr>
            <p:cNvPr id="15" name="Rectangle 15"/>
            <p:cNvSpPr/>
            <p:nvPr/>
          </p:nvSpPr>
          <p:spPr>
            <a:xfrm>
              <a:off x="6667500" y="1428750"/>
              <a:ext cx="4000500" cy="1333500"/>
            </a:xfrm>
            <a:prstGeom prst="roundRect">
              <a:avLst>
                <a:gd name="adj" fmla="val 2857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28943" y="1516380"/>
              <a:ext cx="147761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2500+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2430" y="210883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年历史的经典智慧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3861" y="2410778"/>
              <a:ext cx="887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ADA6"/>
                  </a:solidFill>
                  <a:latin typeface="Segoe UI"/>
                  <a:ea typeface="Microsoft YaHei"/>
                  <a:cs typeface="Segoe UI"/>
                </a:rPr>
                <a:t>道德经 · 老子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67500" y="2952750"/>
            <a:ext cx="4000500" cy="1333500"/>
            <a:chOff x="6667500" y="2952750"/>
            <a:chExt cx="4000500" cy="1333500"/>
          </a:xfrm>
        </p:grpSpPr>
        <p:sp>
          <p:nvSpPr>
            <p:cNvPr id="20" name="Rectangle 20"/>
            <p:cNvSpPr/>
            <p:nvPr/>
          </p:nvSpPr>
          <p:spPr>
            <a:xfrm>
              <a:off x="6667500" y="2952750"/>
              <a:ext cx="4000500" cy="1333500"/>
            </a:xfrm>
            <a:prstGeom prst="roundRect">
              <a:avLst>
                <a:gd name="adj" fmla="val 2857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80162" y="3040380"/>
              <a:ext cx="117517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81 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20418" y="3632835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完整原文 + 现代解读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53852" y="3934778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ADA6"/>
                  </a:solidFill>
                  <a:latin typeface="Segoe UI"/>
                  <a:ea typeface="Microsoft YaHei"/>
                  <a:cs typeface="Segoe UI"/>
                </a:rPr>
                <a:t>五千言 · 道德经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0" y="4476750"/>
            <a:ext cx="4000500" cy="1333500"/>
            <a:chOff x="6667500" y="4476750"/>
            <a:chExt cx="40005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6667500" y="4476750"/>
              <a:ext cx="4000500" cy="1333500"/>
            </a:xfrm>
            <a:prstGeom prst="roundRect">
              <a:avLst>
                <a:gd name="adj" fmla="val 2857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07803" y="4564380"/>
              <a:ext cx="51989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AI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20418" y="5156835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三种人格 · 流式对话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58778" y="5458778"/>
              <a:ext cx="2217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0ADA6"/>
                  </a:solidFill>
                  <a:latin typeface="Segoe UI"/>
                  <a:ea typeface="Microsoft YaHei"/>
                  <a:cs typeface="Segoe UI"/>
                </a:rPr>
                <a:t>DeepSeek · OpenRouter · OpenAI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626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目标用户画像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714500"/>
            <a:ext cx="4762500" cy="4381500"/>
            <a:chOff x="762000" y="1714500"/>
            <a:chExt cx="4762500" cy="4381500"/>
          </a:xfrm>
        </p:grpSpPr>
        <p:sp>
          <p:nvSpPr>
            <p:cNvPr id="5" name="Rectangle 5"/>
            <p:cNvSpPr/>
            <p:nvPr/>
          </p:nvSpPr>
          <p:spPr>
            <a:xfrm>
              <a:off x="762000" y="1714500"/>
              <a:ext cx="4762500" cy="4381500"/>
            </a:xfrm>
            <a:prstGeom prst="roundRect">
              <a:avLst>
                <a:gd name="adj" fmla="val 87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714500"/>
              <a:ext cx="4762500" cy="476250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384187" y="1883092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C 端用户（主要）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095375" y="2428875"/>
              <a:ext cx="2491740" cy="957263"/>
              <a:chOff x="1095375" y="2428875"/>
              <a:chExt cx="2491740" cy="957263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095375" y="2428875"/>
                <a:ext cx="476250" cy="476250"/>
              </a:xfrm>
              <a:prstGeom prst="ellipse">
                <a:avLst/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38250" y="2594610"/>
                <a:ext cx="1905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学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699260" y="24612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当代学习者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702118" y="2695099"/>
                <a:ext cx="5513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20-35 岁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20165" y="2982278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接受过完整高等教育，对国学有好奇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20165" y="3172778"/>
                <a:ext cx="2126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但被传统呈现劝退，需要现代入口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1047750" y="34766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095375" y="3667125"/>
              <a:ext cx="2491740" cy="957263"/>
              <a:chOff x="1095375" y="3667125"/>
              <a:chExt cx="2491740" cy="957263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095375" y="3667125"/>
                <a:ext cx="476250" cy="476250"/>
              </a:xfrm>
              <a:prstGeom prst="ellipse">
                <a:avLst/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238250" y="3832860"/>
                <a:ext cx="1905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修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99260" y="369951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修行者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02118" y="3933349"/>
                <a:ext cx="5513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30-55 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20165" y="4220528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已经在读《道德经》，需要跨章查证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320165" y="4411028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追问、记录的工具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1047750" y="471487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1095375" y="4905375"/>
              <a:ext cx="2491740" cy="957263"/>
              <a:chOff x="1095375" y="4905375"/>
              <a:chExt cx="2491740" cy="957263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1095375" y="4905375"/>
                <a:ext cx="476250" cy="476250"/>
              </a:xfrm>
              <a:prstGeom prst="ellipse">
                <a:avLst/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38250" y="5071110"/>
                <a:ext cx="1905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99260" y="49377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儿童家长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702118" y="5171599"/>
                <a:ext cx="5513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25-45 岁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320165" y="5458778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希望用现代方式让孩子接触传统文化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320165" y="5649278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智慧绘本 + 互动阅读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096000" y="1714500"/>
            <a:ext cx="4762500" cy="1905000"/>
            <a:chOff x="6096000" y="1714500"/>
            <a:chExt cx="4762500" cy="1905000"/>
          </a:xfrm>
        </p:grpSpPr>
        <p:sp>
          <p:nvSpPr>
            <p:cNvPr id="32" name="Rectangle 32"/>
            <p:cNvSpPr/>
            <p:nvPr/>
          </p:nvSpPr>
          <p:spPr>
            <a:xfrm>
              <a:off x="6096000" y="1714500"/>
              <a:ext cx="4762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0" y="1714500"/>
              <a:ext cx="4762500" cy="476250"/>
            </a:xfrm>
            <a:prstGeom prst="roundRect">
              <a:avLst>
                <a:gd name="adj" fmla="val 8000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18187" y="1883092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B 端用户（次要）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366510" y="2251710"/>
              <a:ext cx="2429875" cy="991552"/>
              <a:chOff x="6366510" y="2251710"/>
              <a:chExt cx="2429875" cy="991552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6366510" y="2251710"/>
                <a:ext cx="15678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企业团队 / 教培机构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368415" y="2553652"/>
                <a:ext cx="14828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把"道学 + AI 解读"作为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368415" y="2744152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员工人文素养课、企业文化课的载体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368415" y="3029902"/>
                <a:ext cx="24279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Team ¥299/月 · Enterprise 联系洽谈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6096000" y="3905250"/>
            <a:ext cx="4762500" cy="2190750"/>
            <a:chOff x="6096000" y="3905250"/>
            <a:chExt cx="4762500" cy="2190750"/>
          </a:xfrm>
        </p:grpSpPr>
        <p:sp>
          <p:nvSpPr>
            <p:cNvPr id="41" name="Rectangle 41"/>
            <p:cNvSpPr/>
            <p:nvPr/>
          </p:nvSpPr>
          <p:spPr>
            <a:xfrm>
              <a:off x="6096000" y="3905250"/>
              <a:ext cx="4762500" cy="2190750"/>
            </a:xfrm>
            <a:prstGeom prst="roundRect">
              <a:avLst>
                <a:gd name="adj" fmla="val 1739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987546" y="41405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关键评估者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381750" y="4429125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3D3D3D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366510" y="4490085"/>
              <a:ext cx="2744914" cy="1277303"/>
              <a:chOff x="6366510" y="4490085"/>
              <a:chExt cx="2744914" cy="1277303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6366510" y="449008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传智杯评委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368415" y="4792028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8F5EE"/>
                    </a:solidFill>
                    <a:latin typeface="Segoe UI"/>
                    <a:ea typeface="Microsoft YaHei"/>
                    <a:cs typeface="Segoe UI"/>
                  </a:rPr>
                  <a:t>学术 + 产业混合背景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368415" y="5030152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8F5EE"/>
                    </a:solidFill>
                    <a:latin typeface="Segoe UI"/>
                    <a:ea typeface="Microsoft YaHei"/>
                    <a:cs typeface="Segoe UI"/>
                  </a:rPr>
                  <a:t>30 秒内要看明白：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368415" y="5268278"/>
                <a:ext cx="27430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"这是什么 / 凭什么不一样 / 凭什么能赚钱"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368415" y="5554028"/>
                <a:ext cx="22669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B0ADA6"/>
                    </a:solidFill>
                    <a:latin typeface="Segoe UI"/>
                    <a:ea typeface="Microsoft YaHei"/>
                    <a:cs typeface="Segoe UI"/>
                  </a:rPr>
                  <a:t>任何一页都可能成为他点开的第一页</a:t>
                </a:r>
              </a:p>
            </p:txBody>
          </p:sp>
        </p:grpSp>
      </p:grpSp>
      <p:sp>
        <p:nvSpPr>
          <p:cNvPr id="51" name="TextBox 51"/>
          <p:cNvSpPr txBox="1"/>
          <p:nvPr/>
        </p:nvSpPr>
        <p:spPr>
          <a:xfrm>
            <a:off x="112626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31" grpId="0"/>
      <p:bldP spid="40" grpId="0"/>
      <p:bldP spid="50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28528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技术栈概览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2000" y="1714500"/>
            <a:ext cx="3238500" cy="4191000"/>
            <a:chOff x="762000" y="1714500"/>
            <a:chExt cx="3238500" cy="4191000"/>
          </a:xfrm>
        </p:grpSpPr>
        <p:sp>
          <p:nvSpPr>
            <p:cNvPr id="5" name="Rectangle 5"/>
            <p:cNvSpPr/>
            <p:nvPr/>
          </p:nvSpPr>
          <p:spPr>
            <a:xfrm>
              <a:off x="762000" y="1714500"/>
              <a:ext cx="3238500" cy="4191000"/>
            </a:xfrm>
            <a:prstGeom prst="roundRect">
              <a:avLst>
                <a:gd name="adj" fmla="val 1176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714500"/>
              <a:ext cx="3238500" cy="476250"/>
            </a:xfrm>
            <a:prstGeom prst="roundRect">
              <a:avLst>
                <a:gd name="adj" fmla="val 8000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175081" y="188309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前端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952500" y="2381250"/>
              <a:ext cx="2857500" cy="1809750"/>
              <a:chOff x="952500" y="2381250"/>
              <a:chExt cx="2857500" cy="1809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52500" y="23812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30893" y="2525078"/>
                <a:ext cx="3767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Vue 3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2476500" y="23812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993398" y="2525078"/>
                <a:ext cx="2997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Vite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952500" y="28575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448395" y="3001328"/>
                <a:ext cx="341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Pinia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2476500" y="28575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762369" y="3001328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Vue Router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952500" y="33337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3883" y="3477578"/>
                <a:ext cx="5307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Fuse.js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2476500" y="33337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000399" y="3477578"/>
                <a:ext cx="285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PWA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952500" y="38100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24367" y="3953828"/>
                <a:ext cx="7897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Web Speech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2476500" y="38100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765870" y="3953828"/>
                <a:ext cx="7547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Playwright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969068" y="5514499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16 个页面组件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381500" y="1714500"/>
            <a:ext cx="3238500" cy="4191000"/>
            <a:chOff x="4381500" y="1714500"/>
            <a:chExt cx="3238500" cy="4191000"/>
          </a:xfrm>
        </p:grpSpPr>
        <p:sp>
          <p:nvSpPr>
            <p:cNvPr id="27" name="Rectangle 27"/>
            <p:cNvSpPr/>
            <p:nvPr/>
          </p:nvSpPr>
          <p:spPr>
            <a:xfrm>
              <a:off x="4381500" y="1714500"/>
              <a:ext cx="3238500" cy="4191000"/>
            </a:xfrm>
            <a:prstGeom prst="roundRect">
              <a:avLst>
                <a:gd name="adj" fmla="val 1176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81500" y="1714500"/>
              <a:ext cx="3238500" cy="476250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94581" y="188309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后端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4572000" y="2381250"/>
              <a:ext cx="2857500" cy="1809750"/>
              <a:chOff x="4572000" y="2381250"/>
              <a:chExt cx="2857500" cy="1809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572000" y="23812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955881" y="2525078"/>
                <a:ext cx="5657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Express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096000" y="23812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528887" y="252507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MySQL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4572000" y="28575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095899" y="3001328"/>
                <a:ext cx="285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JWT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096000" y="28575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518386" y="3001328"/>
                <a:ext cx="4887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bcrypt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4572000" y="33337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109901" y="3477578"/>
                <a:ext cx="2576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SSE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6096000" y="33337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343364" y="3477578"/>
                <a:ext cx="838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node --test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4572000" y="38100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917376" y="3953828"/>
                <a:ext cx="6427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c8 覆盖率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6096000" y="38100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441376" y="3953828"/>
                <a:ext cx="6427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edge-tts</a:t>
                </a:r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5621072" y="5514499"/>
              <a:ext cx="7593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20+ API 路由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001000" y="1714500"/>
            <a:ext cx="3238500" cy="4191000"/>
            <a:chOff x="8001000" y="1714500"/>
            <a:chExt cx="3238500" cy="4191000"/>
          </a:xfrm>
        </p:grpSpPr>
        <p:sp>
          <p:nvSpPr>
            <p:cNvPr id="49" name="Rectangle 49"/>
            <p:cNvSpPr/>
            <p:nvPr/>
          </p:nvSpPr>
          <p:spPr>
            <a:xfrm>
              <a:off x="8001000" y="1714500"/>
              <a:ext cx="3238500" cy="4191000"/>
            </a:xfrm>
            <a:prstGeom prst="roundRect">
              <a:avLst>
                <a:gd name="adj" fmla="val 1176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01000" y="1714500"/>
              <a:ext cx="3238500" cy="476250"/>
            </a:xfrm>
            <a:prstGeom prst="roundRect">
              <a:avLst>
                <a:gd name="adj" fmla="val 8000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05393" y="1883092"/>
              <a:ext cx="629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AI 服务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8191500" y="2381250"/>
              <a:ext cx="2857500" cy="857250"/>
              <a:chOff x="8191500" y="2381250"/>
              <a:chExt cx="2857500" cy="8572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8191500" y="23812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536876" y="2525078"/>
                <a:ext cx="6427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DeepSeek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9715500" y="238125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969865" y="2525078"/>
                <a:ext cx="8247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OpenRouter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8191500" y="28575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617387" y="3001328"/>
                <a:ext cx="4817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OpenAI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9715500" y="2857500"/>
                <a:ext cx="1333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948862" y="3001328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gpt-image-2</a:t>
                </a:r>
              </a:p>
            </p:txBody>
          </p:sp>
        </p:grpSp>
        <p:sp>
          <p:nvSpPr>
            <p:cNvPr id="61" name="Line 61"/>
            <p:cNvSpPr/>
            <p:nvPr/>
          </p:nvSpPr>
          <p:spPr>
            <a:xfrm>
              <a:off x="8191500" y="28575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8178165" y="2934652"/>
              <a:ext cx="1130856" cy="1101567"/>
              <a:chOff x="8178165" y="2934652"/>
              <a:chExt cx="1130856" cy="1101567"/>
            </a:xfrm>
          </p:grpSpPr>
          <p:sp>
            <p:nvSpPr>
              <p:cNvPr id="62" name="TextBox 62"/>
              <p:cNvSpPr txBox="1"/>
              <p:nvPr/>
            </p:nvSpPr>
            <p:spPr>
              <a:xfrm>
                <a:off x="8178165" y="29346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特性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179118" y="3180874"/>
                <a:ext cx="11299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流式对话（SSE）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179118" y="3399949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三种人格并行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179118" y="3619024"/>
                <a:ext cx="9088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RAG 检索增强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179118" y="3838099"/>
                <a:ext cx="6553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辩论模式</a:t>
                </a:r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9347835" y="55144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三家兼容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2626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26" grpId="0"/>
      <p:bldP spid="48" grpId="0"/>
      <p:bldP spid="69" grpId="0"/>
      <p:bldP spid="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323355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AI 流式对话架构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62000" y="1714500"/>
            <a:ext cx="10668000" cy="6286500"/>
            <a:chOff x="762000" y="1714500"/>
            <a:chExt cx="10668000" cy="6286500"/>
          </a:xfrm>
        </p:grpSpPr>
        <p:sp>
          <p:nvSpPr>
            <p:cNvPr id="5" name="Rectangle 5"/>
            <p:cNvSpPr/>
            <p:nvPr/>
          </p:nvSpPr>
          <p:spPr>
            <a:xfrm>
              <a:off x="762000" y="1714500"/>
              <a:ext cx="10668000" cy="666750"/>
            </a:xfrm>
            <a:prstGeom prst="roundRect">
              <a:avLst>
                <a:gd name="adj" fmla="val 571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4264228" y="1997392"/>
              <a:ext cx="36635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浏览器 fetch POST /api/ai/chat/stream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6096000" y="2476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3D3D3D"/>
              </a:solidFill>
              <a:tailEnd type="triangle" w="lg" len="lg"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2857500"/>
              <a:ext cx="10668000" cy="666750"/>
            </a:xfrm>
            <a:prstGeom prst="roundRect">
              <a:avLst>
                <a:gd name="adj" fmla="val 571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812397" y="3140392"/>
              <a:ext cx="25672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Express 路由 — SSE 头 + 心跳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0" y="3619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3D3D3D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4000500"/>
              <a:ext cx="3238500" cy="762000"/>
            </a:xfrm>
            <a:prstGeom prst="roundRect">
              <a:avLst>
                <a:gd name="adj" fmla="val 5000"/>
              </a:avLst>
            </a:prstGeom>
            <a:solidFill>
              <a:srgbClr val="FDFBF7"/>
            </a:solidFill>
            <a:ln w="14288">
              <a:solidFill>
                <a:srgbClr val="C44A2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96364" y="4251960"/>
              <a:ext cx="769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DeepSeek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44754" y="4522470"/>
              <a:ext cx="1072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C8C"/>
                  </a:solidFill>
                  <a:latin typeface="Consolas"/>
                  <a:ea typeface="Microsoft YaHei"/>
                  <a:cs typeface="Consolas"/>
                </a:rPr>
                <a:t>api.deepseek.com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76750" y="4000500"/>
              <a:ext cx="3238500" cy="762000"/>
            </a:xfrm>
            <a:prstGeom prst="roundRect">
              <a:avLst>
                <a:gd name="adj" fmla="val 5000"/>
              </a:avLst>
            </a:prstGeom>
            <a:solidFill>
              <a:srgbClr val="FDFBF7"/>
            </a:solidFill>
            <a:ln w="14288">
              <a:solidFill>
                <a:srgbClr val="C44A2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01900" y="4251960"/>
              <a:ext cx="988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OpenRouter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70518" y="4522470"/>
              <a:ext cx="850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C8C"/>
                  </a:solidFill>
                  <a:latin typeface="Consolas"/>
                  <a:ea typeface="Microsoft YaHei"/>
                  <a:cs typeface="Consolas"/>
                </a:rPr>
                <a:t>openrouter.ai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91500" y="4000500"/>
              <a:ext cx="3238500" cy="762000"/>
            </a:xfrm>
            <a:prstGeom prst="roundRect">
              <a:avLst>
                <a:gd name="adj" fmla="val 5000"/>
              </a:avLst>
            </a:prstGeom>
            <a:solidFill>
              <a:srgbClr val="FDFBF7"/>
            </a:solidFill>
            <a:ln w="14288">
              <a:solidFill>
                <a:srgbClr val="C44A2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22476" y="4251960"/>
              <a:ext cx="5765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OpenAI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55264" y="4522470"/>
              <a:ext cx="9109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C8C"/>
                  </a:solidFill>
                  <a:latin typeface="Consolas"/>
                  <a:ea typeface="Microsoft YaHei"/>
                  <a:cs typeface="Consolas"/>
                </a:rPr>
                <a:t>api.openai.com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096000" y="4857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3D3D3D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2000" y="5238750"/>
              <a:ext cx="10668000" cy="571500"/>
            </a:xfrm>
            <a:prstGeom prst="roundRect">
              <a:avLst>
                <a:gd name="adj" fmla="val 6667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56694" y="5461635"/>
              <a:ext cx="1078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stream: true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096000" y="5905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3D3D3D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" y="6286500"/>
              <a:ext cx="10668000" cy="666750"/>
            </a:xfrm>
            <a:prstGeom prst="roundRect">
              <a:avLst>
                <a:gd name="adj" fmla="val 571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96624" y="6442710"/>
              <a:ext cx="2198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滚动 buffer 聚合 + \n\n 切分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87868" y="6705124"/>
              <a:ext cx="40162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Consolas"/>
                  <a:ea typeface="Microsoft YaHei"/>
                  <a:cs typeface="Consolas"/>
                </a:rPr>
                <a:t>splitSSEBuffer() → parseSSEEvent() → extractDeltaAndUsage()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096000" y="70485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3D3D3D"/>
              </a:solidFill>
              <a:tailEnd type="triangle" w="lg" len="lg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7429500"/>
              <a:ext cx="10668000" cy="571500"/>
            </a:xfrm>
            <a:prstGeom prst="roundRect">
              <a:avLst>
                <a:gd name="adj" fmla="val 6667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80635" y="7652385"/>
              <a:ext cx="20307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逐 chunk 转发 → 客户端渲染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72500" y="1714500"/>
            <a:ext cx="2857500" cy="1905000"/>
            <a:chOff x="8572500" y="1714500"/>
            <a:chExt cx="2857500" cy="1905000"/>
          </a:xfrm>
        </p:grpSpPr>
        <p:sp>
          <p:nvSpPr>
            <p:cNvPr id="31" name="Rectangle 31"/>
            <p:cNvSpPr/>
            <p:nvPr/>
          </p:nvSpPr>
          <p:spPr>
            <a:xfrm>
              <a:off x="8572500" y="1714500"/>
              <a:ext cx="2857500" cy="1905000"/>
            </a:xfrm>
            <a:prstGeom prst="roundRect">
              <a:avLst>
                <a:gd name="adj" fmla="val 2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04898" y="1863566"/>
              <a:ext cx="9450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8C8C"/>
                  </a:solidFill>
                  <a:latin typeface="Consolas"/>
                  <a:ea typeface="Microsoft YaHei"/>
                  <a:cs typeface="Consolas"/>
                </a:rPr>
                <a:t>// 客户端断开处理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04898" y="2054066"/>
              <a:ext cx="13026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8F5EE"/>
                  </a:solidFill>
                  <a:latin typeface="Consolas"/>
                  <a:ea typeface="Microsoft YaHei"/>
                  <a:cs typeface="Consolas"/>
                </a:rPr>
                <a:t>req.on('close', () =&gt; {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04898" y="2215991"/>
              <a:ext cx="131361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8F5EE"/>
                  </a:solidFill>
                  <a:latin typeface="Consolas"/>
                  <a:ea typeface="Microsoft YaHei"/>
                  <a:cs typeface="Consolas"/>
                </a:rPr>
                <a:t>upstreamAbort.abort()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04898" y="2377916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8F5EE"/>
                  </a:solidFill>
                  <a:latin typeface="Consolas"/>
                  <a:ea typeface="Microsoft YaHei"/>
                  <a:cs typeface="Consolas"/>
                </a:rPr>
                <a:t>})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04898" y="2577941"/>
              <a:ext cx="6150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8C8C"/>
                  </a:solidFill>
                  <a:latin typeface="Consolas"/>
                  <a:ea typeface="Microsoft YaHei"/>
                  <a:cs typeface="Consolas"/>
                </a:rPr>
                <a:t>// 特性开关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04898" y="2768441"/>
              <a:ext cx="11705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VITE_AI_STREAM=false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04898" y="2958941"/>
              <a:ext cx="6920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C8C8C"/>
                  </a:solidFill>
                  <a:latin typeface="Consolas"/>
                  <a:ea typeface="Microsoft YaHei"/>
                  <a:cs typeface="Consolas"/>
                </a:rPr>
                <a:t>// Mock 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04898" y="3149441"/>
              <a:ext cx="12311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8F5EE"/>
                  </a:solidFill>
                  <a:latin typeface="Consolas"/>
                  <a:ea typeface="Microsoft YaHei"/>
                  <a:cs typeface="Consolas"/>
                </a:rPr>
                <a:t>buildMockAIResponse()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04898" y="3339941"/>
              <a:ext cx="15281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F8F5EE"/>
                  </a:solidFill>
                  <a:latin typeface="Consolas"/>
                  <a:ea typeface="Microsoft YaHei"/>
                  <a:cs typeface="Consolas"/>
                </a:rPr>
                <a:t>chunkTextForMock(text, 5)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2626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30" grpId="0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0428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RAG 检索增强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25107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三路召回 + TF-IDF 字符二元组重排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2000" y="1905000"/>
            <a:ext cx="3238500" cy="1905000"/>
            <a:chOff x="762000" y="1905000"/>
            <a:chExt cx="3238500" cy="1905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3238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17462" y="2092642"/>
              <a:ext cx="1527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fuse.js 模糊匹配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381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39165" y="2410778"/>
              <a:ext cx="2140934" cy="1118234"/>
              <a:chOff x="939165" y="2410778"/>
              <a:chExt cx="2140934" cy="1118234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9165" y="2410778"/>
                <a:ext cx="10347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threshold: 0.3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9165" y="2620328"/>
                <a:ext cx="9227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distance: 100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9165" y="2829878"/>
                <a:ext cx="214093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content(0.5) + keywords(0.3)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39165" y="3039428"/>
                <a:ext cx="19099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+ annotations.modern(0.2)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9165" y="3315652"/>
                <a:ext cx="7967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weight: 1.0</a:t>
                </a:r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4381500" y="1905000"/>
            <a:ext cx="3238500" cy="1905000"/>
            <a:chOff x="4381500" y="1905000"/>
            <a:chExt cx="32385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4381500" y="1905000"/>
              <a:ext cx="3238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11046" y="2092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章节关键词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572000" y="2381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58665" y="2410778"/>
              <a:ext cx="1825895" cy="1118234"/>
              <a:chOff x="4558665" y="2410778"/>
              <a:chExt cx="1825895" cy="1118234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558665" y="2410778"/>
                <a:ext cx="13568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23 章 × 5-8 个关键词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58665" y="2620328"/>
                <a:ext cx="18258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如：8 → ['上善若水', '水']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58665" y="2829878"/>
                <a:ext cx="1314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CHAPTER_KEYWORDS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58665" y="3039428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章节号 → 关键词数组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58665" y="3315652"/>
                <a:ext cx="79676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weight: 1.2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8001000" y="1905000"/>
            <a:ext cx="3238500" cy="1905000"/>
            <a:chOff x="8001000" y="1905000"/>
            <a:chExt cx="3238500" cy="1905000"/>
          </a:xfrm>
        </p:grpSpPr>
        <p:sp>
          <p:nvSpPr>
            <p:cNvPr id="26" name="Rectangle 26"/>
            <p:cNvSpPr/>
            <p:nvPr/>
          </p:nvSpPr>
          <p:spPr>
            <a:xfrm>
              <a:off x="8001000" y="1905000"/>
              <a:ext cx="3238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30546" y="2092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概念关键词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191500" y="2381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178165" y="2410778"/>
              <a:ext cx="1790890" cy="1118234"/>
              <a:chOff x="8178165" y="2410778"/>
              <a:chExt cx="1790890" cy="1118234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8178165" y="2410778"/>
                <a:ext cx="8877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10 个核心概念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178165" y="2620328"/>
                <a:ext cx="16928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'道' → [1, 4, 25, 34, 42]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78165" y="2829878"/>
                <a:ext cx="17908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'无为' → [2, 3, 10, 37...]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78165" y="3039428"/>
                <a:ext cx="1342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CONCEPT_KEYWORDS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78165" y="3315652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weight: 1.1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762000" y="4095750"/>
            <a:ext cx="10477500" cy="1333500"/>
            <a:chOff x="762000" y="4095750"/>
            <a:chExt cx="10477500" cy="1333500"/>
          </a:xfrm>
        </p:grpSpPr>
        <p:sp>
          <p:nvSpPr>
            <p:cNvPr id="36" name="Rectangle 36"/>
            <p:cNvSpPr/>
            <p:nvPr/>
          </p:nvSpPr>
          <p:spPr>
            <a:xfrm>
              <a:off x="762000" y="4095750"/>
              <a:ext cx="10477500" cy="1333500"/>
            </a:xfrm>
            <a:prstGeom prst="roundRect">
              <a:avLst>
                <a:gd name="adj" fmla="val 2857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05408" y="4283392"/>
              <a:ext cx="19906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TF-IDF 字符二元组重排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1130618" y="4466749"/>
              <a:ext cx="9068443" cy="388620"/>
              <a:chOff x="1130618" y="4466749"/>
              <a:chExt cx="9068443" cy="38862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1130618" y="4466749"/>
                <a:ext cx="20530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tokenize(text) → 字符二元组数组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130618" y="4657249"/>
                <a:ext cx="21180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去除标点/空格，滑动窗口 2 字符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940618" y="4466749"/>
                <a:ext cx="18579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cosineSimilarity(query, doc)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940618" y="4657249"/>
                <a:ext cx="18774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余弦相似度 × strategy 权重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750618" y="4466749"/>
                <a:ext cx="1448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Top-1 → system prompt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750618" y="4657249"/>
                <a:ext cx="10518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Top-4 → 候选列表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762000" y="5619750"/>
            <a:ext cx="5143500" cy="571500"/>
            <a:chOff x="762000" y="5619750"/>
            <a:chExt cx="5143500" cy="571500"/>
          </a:xfrm>
        </p:grpSpPr>
        <p:sp>
          <p:nvSpPr>
            <p:cNvPr id="46" name="Rectangle 46"/>
            <p:cNvSpPr/>
            <p:nvPr/>
          </p:nvSpPr>
          <p:spPr>
            <a:xfrm>
              <a:off x="762000" y="5619750"/>
              <a:ext cx="5143500" cy="571500"/>
            </a:xfrm>
            <a:prstGeom prst="roundRect">
              <a:avLst>
                <a:gd name="adj" fmla="val 6667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030349" y="5842635"/>
              <a:ext cx="26068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preprocessQuery(去标点/停用词)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86500" y="5619750"/>
            <a:ext cx="4953000" cy="571500"/>
            <a:chOff x="6286500" y="5619750"/>
            <a:chExt cx="4953000" cy="571500"/>
          </a:xfrm>
        </p:grpSpPr>
        <p:sp>
          <p:nvSpPr>
            <p:cNvPr id="49" name="Rectangle 49"/>
            <p:cNvSpPr/>
            <p:nvPr/>
          </p:nvSpPr>
          <p:spPr>
            <a:xfrm>
              <a:off x="6286500" y="5619750"/>
              <a:ext cx="4953000" cy="571500"/>
            </a:xfrm>
            <a:prstGeom prst="roundRect">
              <a:avLst>
                <a:gd name="adj" fmla="val 6667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43634" y="5842635"/>
              <a:ext cx="20387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候选去重（按 chapter_id）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2626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4314139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道之签 — 每日 AI 卦签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62000" y="1714500"/>
            <a:ext cx="4953000" cy="2381250"/>
            <a:chOff x="762000" y="1714500"/>
            <a:chExt cx="4953000" cy="2381250"/>
          </a:xfrm>
        </p:grpSpPr>
        <p:sp>
          <p:nvSpPr>
            <p:cNvPr id="5" name="Rectangle 5"/>
            <p:cNvSpPr/>
            <p:nvPr/>
          </p:nvSpPr>
          <p:spPr>
            <a:xfrm>
              <a:off x="762000" y="1714500"/>
              <a:ext cx="4953000" cy="2381250"/>
            </a:xfrm>
            <a:prstGeom prst="roundRect">
              <a:avLst>
                <a:gd name="adj" fmla="val 16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408553" y="1902142"/>
              <a:ext cx="16598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SHA256 确定性算法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952500" y="2190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3D3D3D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39165" y="2267902"/>
              <a:ext cx="2189940" cy="1499236"/>
              <a:chOff x="939165" y="2267902"/>
              <a:chExt cx="2189940" cy="1499236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939165" y="2267902"/>
                <a:ext cx="9227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确定性抽取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39165" y="2477452"/>
                <a:ext cx="2154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seed = `${userId}:${dateKey}`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9165" y="2687002"/>
                <a:ext cx="21899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hash = SHA256(seed).hex[0..8]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9165" y="2896552"/>
                <a:ext cx="19799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idx = parseInt(hash, 16) % 23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39165" y="3125152"/>
                <a:ext cx="16228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同用户同日首抽必同章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9165" y="3334702"/>
                <a:ext cx="17838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reroll 加 randomUUID 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9165" y="3553778"/>
                <a:ext cx="16788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消耗 30 cultivation XP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6096000" y="1714500"/>
            <a:ext cx="4953000" cy="2381250"/>
            <a:chOff x="6096000" y="1714500"/>
            <a:chExt cx="4953000" cy="2381250"/>
          </a:xfrm>
        </p:grpSpPr>
        <p:sp>
          <p:nvSpPr>
            <p:cNvPr id="17" name="Rectangle 17"/>
            <p:cNvSpPr/>
            <p:nvPr/>
          </p:nvSpPr>
          <p:spPr>
            <a:xfrm>
              <a:off x="6096000" y="1714500"/>
              <a:ext cx="4953000" cy="2381250"/>
            </a:xfrm>
            <a:prstGeom prst="roundRect">
              <a:avLst>
                <a:gd name="adj" fmla="val 16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4991" y="1902142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23 章知识库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86500" y="2190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273165" y="2267902"/>
              <a:ext cx="1664875" cy="1356360"/>
              <a:chOff x="6273165" y="2267902"/>
              <a:chExt cx="1664875" cy="135636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273165" y="2267902"/>
                <a:ext cx="15528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第 1 章：道可道，非常道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273165" y="249650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第 8 章：上善若水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273165" y="2725102"/>
                <a:ext cx="12448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第 25 章：道法自然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273165" y="2953702"/>
                <a:ext cx="16648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第 42 章：道生一，一生二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73165" y="3182302"/>
                <a:ext cx="12098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第 81 章：信言不美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73165" y="3410902"/>
                <a:ext cx="13778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... 共 23 章完整注释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762000" y="4381500"/>
            <a:ext cx="4953000" cy="1524000"/>
            <a:chOff x="762000" y="4381500"/>
            <a:chExt cx="4953000" cy="1524000"/>
          </a:xfrm>
        </p:grpSpPr>
        <p:sp>
          <p:nvSpPr>
            <p:cNvPr id="28" name="Rectangle 28"/>
            <p:cNvSpPr/>
            <p:nvPr/>
          </p:nvSpPr>
          <p:spPr>
            <a:xfrm>
              <a:off x="762000" y="4381500"/>
              <a:ext cx="4953000" cy="1524000"/>
            </a:xfrm>
            <a:prstGeom prst="roundRect">
              <a:avLst>
                <a:gd name="adj" fmla="val 25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734619" y="4569142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AI 生成内容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952500" y="4857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38212" y="4926806"/>
              <a:ext cx="2016323" cy="762000"/>
              <a:chOff x="938212" y="4926806"/>
              <a:chExt cx="2016323" cy="76200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938212" y="4926806"/>
                <a:ext cx="171628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今日提点（50 字以内）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38212" y="5193506"/>
                <a:ext cx="20163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今日行动建议（20 字以内）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38212" y="5460206"/>
                <a:ext cx="15062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输出严格 JSON 格式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096000" y="4381500"/>
            <a:ext cx="4953000" cy="1524000"/>
            <a:chOff x="6096000" y="4381500"/>
            <a:chExt cx="4953000" cy="1524000"/>
          </a:xfrm>
        </p:grpSpPr>
        <p:sp>
          <p:nvSpPr>
            <p:cNvPr id="36" name="Rectangle 36"/>
            <p:cNvSpPr/>
            <p:nvPr/>
          </p:nvSpPr>
          <p:spPr>
            <a:xfrm>
              <a:off x="6096000" y="4381500"/>
              <a:ext cx="4953000" cy="1524000"/>
            </a:xfrm>
            <a:prstGeom prst="roundRect">
              <a:avLst>
                <a:gd name="adj" fmla="val 25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88284" y="45691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三级兜底策略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286500" y="4857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272212" y="4926806"/>
              <a:ext cx="2136338" cy="762000"/>
              <a:chOff x="6272212" y="4926806"/>
              <a:chExt cx="2136338" cy="762000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6272212" y="4926806"/>
                <a:ext cx="12512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1. 严格 JSON 解析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272212" y="5193506"/>
                <a:ext cx="21363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2. 正则提取 {insight, action}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272212" y="5460206"/>
                <a:ext cx="128873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3. 兜底 mock 内容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762000" y="6096000"/>
            <a:ext cx="10287000" cy="381000"/>
            <a:chOff x="762000" y="6096000"/>
            <a:chExt cx="10287000" cy="381000"/>
          </a:xfrm>
        </p:grpSpPr>
        <p:sp>
          <p:nvSpPr>
            <p:cNvPr id="44" name="Rectangle 44"/>
            <p:cNvSpPr/>
            <p:nvPr/>
          </p:nvSpPr>
          <p:spPr>
            <a:xfrm>
              <a:off x="762000" y="6096000"/>
              <a:ext cx="10287000" cy="381000"/>
            </a:xfrm>
            <a:prstGeom prst="roundRect">
              <a:avLst>
                <a:gd name="adj" fmla="val 10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623882" y="6239828"/>
              <a:ext cx="45632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缓存键：daoSign:&lt;userId&gt;:&lt;YYYY-MM-DD&gt; · 同日刷新走 localStorage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295859" y="6363652"/>
            <a:ext cx="147476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07</a:t>
            </a:r>
            <a:endParaRPr lang="zh-CN" sz="1050" dirty="0">
              <a:solidFill>
                <a:srgbClr val="B0ADA6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92481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多人格 AI 系统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942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三种人格 · 独立 system prompt · 不同 temperature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1905000"/>
            <a:ext cx="3238500" cy="3810000"/>
            <a:chOff x="762000" y="1905000"/>
            <a:chExt cx="3238500" cy="3810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3238500" cy="3810000"/>
            </a:xfrm>
            <a:prstGeom prst="roundRect">
              <a:avLst>
                <a:gd name="adj" fmla="val 1176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905000"/>
              <a:ext cx="3238500" cy="762000"/>
            </a:xfrm>
            <a:prstGeom prst="roundRect">
              <a:avLst>
                <a:gd name="adj" fmla="val 5000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98237" y="2012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现代学者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5922" y="2327910"/>
              <a:ext cx="14306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DFBF7"/>
                  </a:solidFill>
                  <a:latin typeface="Consolas"/>
                  <a:ea typeface="Microsoft YaHei"/>
                  <a:cs typeface="Consolas"/>
                </a:rPr>
                <a:t>Temperature: 0.5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938212" y="2736056"/>
              <a:ext cx="1828800" cy="1028700"/>
              <a:chOff x="938212" y="2736056"/>
              <a:chExt cx="1828800" cy="102870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938212" y="27360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严谨的道家文化学者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8212" y="300275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学术风格，引用历史与训诂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38212" y="32694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客观分析，避免空泛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8212" y="3536156"/>
                <a:ext cx="141624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回答控制在 200 字内</a:t>
                </a:r>
              </a:p>
            </p:txBody>
          </p:sp>
        </p:grpSp>
        <p:sp>
          <p:nvSpPr>
            <p:cNvPr id="15" name="Line 15"/>
            <p:cNvSpPr/>
            <p:nvPr/>
          </p:nvSpPr>
          <p:spPr>
            <a:xfrm>
              <a:off x="952500" y="3905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941070" y="3950970"/>
              <a:ext cx="1847088" cy="697230"/>
              <a:chOff x="941070" y="3950970"/>
              <a:chExt cx="1847088" cy="69723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41070" y="3950970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system prompt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1070" y="4122420"/>
                <a:ext cx="135502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'严谨的道家文化学者。'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1070" y="4293870"/>
                <a:ext cx="18470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'请用学术风格,引用历史与训诂,'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1070" y="4465320"/>
                <a:ext cx="1301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'客观分析,避免空泛。'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4381500" y="1905000"/>
            <a:ext cx="3238500" cy="3810000"/>
            <a:chOff x="4381500" y="1905000"/>
            <a:chExt cx="3238500" cy="3810000"/>
          </a:xfrm>
        </p:grpSpPr>
        <p:sp>
          <p:nvSpPr>
            <p:cNvPr id="22" name="Rectangle 22"/>
            <p:cNvSpPr/>
            <p:nvPr/>
          </p:nvSpPr>
          <p:spPr>
            <a:xfrm>
              <a:off x="4381500" y="1905000"/>
              <a:ext cx="3238500" cy="3810000"/>
            </a:xfrm>
            <a:prstGeom prst="roundRect">
              <a:avLst>
                <a:gd name="adj" fmla="val 1176"/>
              </a:avLst>
            </a:prstGeom>
            <a:solidFill>
              <a:srgbClr val="F8F5EE"/>
            </a:solidFill>
            <a:ln w="14288">
              <a:solidFill>
                <a:srgbClr val="1A1A1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81500" y="1905000"/>
              <a:ext cx="3238500" cy="762000"/>
            </a:xfrm>
            <a:prstGeom prst="roundRect">
              <a:avLst>
                <a:gd name="adj" fmla="val 5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17737" y="20126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道家隐士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5422" y="2327910"/>
              <a:ext cx="14306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Temperature: 0.9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4557712" y="2736056"/>
              <a:ext cx="1761292" cy="1028700"/>
              <a:chOff x="4557712" y="2736056"/>
              <a:chExt cx="1761292" cy="102870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4557712" y="27360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云游山林的道家隐士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57712" y="3002756"/>
                <a:ext cx="176129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回答用诗意比喻,贴近自然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57712" y="32694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留白启发，意境深远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57712" y="35361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可引用具体章节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4572000" y="3905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4560570" y="3950970"/>
              <a:ext cx="1607058" cy="697230"/>
              <a:chOff x="4560570" y="3950970"/>
              <a:chExt cx="1607058" cy="697230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4560570" y="3950970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system prompt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560570" y="4122420"/>
                <a:ext cx="135502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'云游山林的道家隐士。'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560570" y="4293870"/>
                <a:ext cx="160705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'回答用诗意比喻,贴近自然,'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60570" y="4465320"/>
                <a:ext cx="7549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'留白启发。'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8001000" y="1905000"/>
            <a:ext cx="3238500" cy="3810000"/>
            <a:chOff x="8001000" y="1905000"/>
            <a:chExt cx="3238500" cy="3810000"/>
          </a:xfrm>
        </p:grpSpPr>
        <p:sp>
          <p:nvSpPr>
            <p:cNvPr id="38" name="Rectangle 38"/>
            <p:cNvSpPr/>
            <p:nvPr/>
          </p:nvSpPr>
          <p:spPr>
            <a:xfrm>
              <a:off x="8001000" y="1905000"/>
              <a:ext cx="3238500" cy="3810000"/>
            </a:xfrm>
            <a:prstGeom prst="roundRect">
              <a:avLst>
                <a:gd name="adj" fmla="val 1176"/>
              </a:avLst>
            </a:prstGeom>
            <a:solidFill>
              <a:srgbClr val="F8F5EE"/>
            </a:solidFill>
            <a:ln w="14288">
              <a:solidFill>
                <a:srgbClr val="E0DDD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001000" y="1905000"/>
              <a:ext cx="3238500" cy="762000"/>
            </a:xfrm>
            <a:prstGeom prst="roundRect">
              <a:avLst>
                <a:gd name="adj" fmla="val 5000"/>
              </a:avLst>
            </a:prstGeom>
            <a:solidFill>
              <a:srgbClr val="8C8C8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21723" y="20126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心理疗愈师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04922" y="2327910"/>
              <a:ext cx="14306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DFBF7"/>
                  </a:solidFill>
                  <a:latin typeface="Consolas"/>
                  <a:ea typeface="Microsoft YaHei"/>
                  <a:cs typeface="Consolas"/>
                </a:rPr>
                <a:t>Temperature: 0.7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8177212" y="2736056"/>
              <a:ext cx="1828800" cy="1028700"/>
              <a:chOff x="8177212" y="2736056"/>
              <a:chExt cx="1828800" cy="102870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8177212" y="273605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擅长以道家智慧抚慰现代人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77212" y="300275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回答共情、给出可执行建议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177212" y="32694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语言温和，疗愈导向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177212" y="35361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现代心理学视角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8191500" y="3905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180070" y="3950970"/>
              <a:ext cx="1715072" cy="697230"/>
              <a:chOff x="8180070" y="3950970"/>
              <a:chExt cx="1715072" cy="697230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8180070" y="3950970"/>
                <a:ext cx="10669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system prompt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80070" y="4122420"/>
                <a:ext cx="17150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'擅长以道家智慧抚慰现代人。'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180070" y="4293870"/>
                <a:ext cx="16610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'回答共情、给出可执行建议,'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180070" y="4465320"/>
                <a:ext cx="7549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'语言温和。'</a:t>
                </a:r>
              </a:p>
            </p:txBody>
          </p:sp>
        </p:grpSp>
      </p:grpSp>
      <p:sp>
        <p:nvSpPr>
          <p:cNvPr id="54" name="TextBox 54"/>
          <p:cNvSpPr txBox="1"/>
          <p:nvPr/>
        </p:nvSpPr>
        <p:spPr>
          <a:xfrm>
            <a:off x="11295859" y="6363652"/>
            <a:ext cx="147476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0</a:t>
            </a:r>
            <a:r>
              <a:rPr lang="en-US" alt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8</a:t>
            </a:r>
            <a:endParaRPr lang="zh-CN" sz="1050" dirty="0">
              <a:solidFill>
                <a:srgbClr val="B0ADA6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1" grpId="0"/>
      <p:bldP spid="37" grpId="0"/>
      <p:bldP spid="53" grpId="0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6137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三人议事模式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078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/api/ai/council · Promise.all + 失败隔离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905000"/>
            <a:ext cx="4953000" cy="2286000"/>
            <a:chOff x="762000" y="1905000"/>
            <a:chExt cx="4953000" cy="2286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4953000" cy="2286000"/>
            </a:xfrm>
            <a:prstGeom prst="roundRect">
              <a:avLst>
                <a:gd name="adj" fmla="val 1667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905000"/>
              <a:ext cx="4953000" cy="476250"/>
            </a:xfrm>
            <a:prstGeom prst="roundRect">
              <a:avLst>
                <a:gd name="adj" fmla="val 8000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66023" y="2073592"/>
              <a:ext cx="17449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并行模式 (parallel)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938212" y="2450306"/>
              <a:ext cx="2353866" cy="1028700"/>
              <a:chOff x="938212" y="2450306"/>
              <a:chExt cx="2353866" cy="102870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8212" y="2450306"/>
                <a:ext cx="13562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三种视角同屏对照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8212" y="2717006"/>
                <a:ext cx="16262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Promise.all 并行调用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8212" y="2983706"/>
                <a:ext cx="23538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任一失败 → buildFailureFallback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38212" y="3250406"/>
                <a:ext cx="23238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保留 persona 身份，不影响其他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952500" y="3667125"/>
              <a:ext cx="4572000" cy="333375"/>
              <a:chOff x="952500" y="3667125"/>
              <a:chExt cx="4572000" cy="333375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952500" y="3667125"/>
                <a:ext cx="4572000" cy="333375"/>
              </a:xfrm>
              <a:prstGeom prst="roundRect">
                <a:avLst>
                  <a:gd name="adj" fmla="val 5714"/>
                </a:avLst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906453" y="3790474"/>
                <a:ext cx="26640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status: success-council / partial-council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6096000" y="1905000"/>
            <a:ext cx="4953000" cy="2286000"/>
            <a:chOff x="6096000" y="1905000"/>
            <a:chExt cx="4953000" cy="2286000"/>
          </a:xfrm>
        </p:grpSpPr>
        <p:sp>
          <p:nvSpPr>
            <p:cNvPr id="18" name="Rectangle 18"/>
            <p:cNvSpPr/>
            <p:nvPr/>
          </p:nvSpPr>
          <p:spPr>
            <a:xfrm>
              <a:off x="6096000" y="1905000"/>
              <a:ext cx="4953000" cy="2286000"/>
            </a:xfrm>
            <a:prstGeom prst="roundRect">
              <a:avLst>
                <a:gd name="adj" fmla="val 1667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0" y="1905000"/>
              <a:ext cx="4953000" cy="476250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33102" y="2073592"/>
              <a:ext cx="16787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辩论模式 (debate)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272212" y="2450306"/>
              <a:ext cx="2203847" cy="1028700"/>
              <a:chOff x="6272212" y="2450306"/>
              <a:chExt cx="2203847" cy="102870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272212" y="2450306"/>
                <a:ext cx="15062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二轮对话，互相回应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272212" y="2717006"/>
                <a:ext cx="22038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Round 1: 三 persona 并行答题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272212" y="2983706"/>
                <a:ext cx="202382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Round 2: 参考其他两位回答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72212" y="325040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纵向时间线展示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286500" y="3667125"/>
              <a:ext cx="4572000" cy="333375"/>
              <a:chOff x="6286500" y="3667125"/>
              <a:chExt cx="4572000" cy="33337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286500" y="3667125"/>
                <a:ext cx="4572000" cy="333375"/>
              </a:xfrm>
              <a:prstGeom prst="roundRect">
                <a:avLst>
                  <a:gd name="adj" fmla="val 5714"/>
                </a:avLst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246953" y="3790474"/>
                <a:ext cx="26510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status: success-debate / partial-debate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762000" y="4476750"/>
            <a:ext cx="10287000" cy="1524000"/>
            <a:chOff x="762000" y="4476750"/>
            <a:chExt cx="10287000" cy="1524000"/>
          </a:xfrm>
        </p:grpSpPr>
        <p:sp>
          <p:nvSpPr>
            <p:cNvPr id="30" name="Rectangle 30"/>
            <p:cNvSpPr/>
            <p:nvPr/>
          </p:nvSpPr>
          <p:spPr>
            <a:xfrm>
              <a:off x="762000" y="4476750"/>
              <a:ext cx="10287000" cy="1524000"/>
            </a:xfrm>
            <a:prstGeom prst="roundRect">
              <a:avLst>
                <a:gd name="adj" fmla="val 25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86197" y="468058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辩论模式流程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143000" y="5000625"/>
              <a:ext cx="2034064" cy="762000"/>
              <a:chOff x="1143000" y="5000625"/>
              <a:chExt cx="2034064" cy="7620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1143000" y="5000625"/>
                <a:ext cx="17145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8F5EE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740659" y="5173028"/>
                <a:ext cx="5191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Round 1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421749" y="5427345"/>
                <a:ext cx="11570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三 persona 并行答题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028950" y="5219700"/>
                <a:ext cx="1481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→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238500" y="5000625"/>
              <a:ext cx="2986564" cy="762000"/>
              <a:chOff x="3238500" y="5000625"/>
              <a:chExt cx="2986564" cy="762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3238500" y="5000625"/>
                <a:ext cx="26670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8F5EE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3731687" y="5173028"/>
                <a:ext cx="16806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buildDebatePeerPrompt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828479" y="5427345"/>
                <a:ext cx="148704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拼接其他两位 round-1 内容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076950" y="5219700"/>
                <a:ext cx="1481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→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286500" y="5000625"/>
              <a:ext cx="2034064" cy="762000"/>
              <a:chOff x="6286500" y="5000625"/>
              <a:chExt cx="2034064" cy="7620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6286500" y="5000625"/>
                <a:ext cx="17145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8F5EE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865782" y="5173028"/>
                <a:ext cx="555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Round 2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619256" y="5427345"/>
                <a:ext cx="10489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认同补充/温和反驳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172450" y="5219700"/>
                <a:ext cx="1481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→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8382000" y="5000625"/>
              <a:ext cx="2286000" cy="762000"/>
              <a:chOff x="8382000" y="5000625"/>
              <a:chExt cx="2286000" cy="7620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8382000" y="5000625"/>
                <a:ext cx="22860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8F5EE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640581" y="5173028"/>
                <a:ext cx="17688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aggregateDebateResults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955500" y="5427345"/>
                <a:ext cx="11390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token/失败计数汇总</a:t>
                </a:r>
              </a:p>
            </p:txBody>
          </p:sp>
        </p:grpSp>
      </p:grpSp>
      <p:sp>
        <p:nvSpPr>
          <p:cNvPr id="52" name="TextBox 52"/>
          <p:cNvSpPr txBox="1"/>
          <p:nvPr/>
        </p:nvSpPr>
        <p:spPr>
          <a:xfrm>
            <a:off x="11295859" y="6363652"/>
            <a:ext cx="147476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0</a:t>
            </a:r>
            <a:r>
              <a:rPr lang="en-US" alt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9</a:t>
            </a:r>
            <a:endParaRPr lang="zh-CN" sz="1050" dirty="0">
              <a:solidFill>
                <a:srgbClr val="B0ADA6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7" grpId="0"/>
      <p:bldP spid="29" grpId="0"/>
      <p:bldP spid="51" grpId="0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道家决策辅助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262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SWOT 分析 × 道家智慧 — 东西方决策方法融合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62000" y="1905000"/>
            <a:ext cx="4953000" cy="3619500"/>
            <a:chOff x="762000" y="1905000"/>
            <a:chExt cx="4953000" cy="36195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238125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905000"/>
              <a:ext cx="2381250" cy="381000"/>
            </a:xfrm>
            <a:prstGeom prst="roundRect">
              <a:avLst>
                <a:gd name="adj" fmla="val 10000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7332" y="20421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阳（优势）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9211" y="24584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D3D3D"/>
                  </a:solidFill>
                  <a:latin typeface="Segoe UI"/>
                  <a:ea typeface="Microsoft YaHei"/>
                  <a:cs typeface="Segoe UI"/>
                </a:rPr>
                <a:t>自身具备的有利条件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89246" y="269652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D3D3D"/>
                  </a:solidFill>
                  <a:latin typeface="Segoe UI"/>
                  <a:ea typeface="Microsoft YaHei"/>
                  <a:cs typeface="Segoe UI"/>
                </a:rPr>
                <a:t>核心竞争力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18452" y="3037999"/>
              <a:ext cx="6683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Strengths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33750" y="1905000"/>
              <a:ext cx="238125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333750" y="1905000"/>
              <a:ext cx="2381250" cy="381000"/>
            </a:xfrm>
            <a:prstGeom prst="roundRect">
              <a:avLst>
                <a:gd name="adj" fmla="val 10000"/>
              </a:avLst>
            </a:prstGeom>
            <a:solidFill>
              <a:srgbClr val="8C8C8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089082" y="20421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阴（劣势）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80961" y="24584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D3D3D"/>
                  </a:solidFill>
                  <a:latin typeface="Segoe UI"/>
                  <a:ea typeface="Microsoft YaHei"/>
                  <a:cs typeface="Segoe UI"/>
                </a:rPr>
                <a:t>内部阻碍、不足之处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41446" y="3037999"/>
              <a:ext cx="7658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Weaknesses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810000"/>
              <a:ext cx="238125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3810000"/>
              <a:ext cx="2381250" cy="381000"/>
            </a:xfrm>
            <a:prstGeom prst="roundRect">
              <a:avLst>
                <a:gd name="adj" fmla="val 10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33322" y="39471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天时（机遇）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49229" y="43634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D3D3D"/>
                  </a:solidFill>
                  <a:latin typeface="Segoe UI"/>
                  <a:ea typeface="Microsoft YaHei"/>
                  <a:cs typeface="Segoe UI"/>
                </a:rPr>
                <a:t>大环境有利因素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9229" y="4601528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D3D3D"/>
                  </a:solidFill>
                  <a:latin typeface="Segoe UI"/>
                  <a:ea typeface="Microsoft YaHei"/>
                  <a:cs typeface="Segoe UI"/>
                </a:rPr>
                <a:t>顺势而为的机会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4937" y="4942999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Opportunities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333750" y="3810000"/>
              <a:ext cx="238125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333750" y="3810000"/>
              <a:ext cx="2381250" cy="381000"/>
            </a:xfrm>
            <a:prstGeom prst="roundRect">
              <a:avLst>
                <a:gd name="adj" fmla="val 10000"/>
              </a:avLst>
            </a:prstGeom>
            <a:solidFill>
              <a:srgbClr val="B0ADA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05072" y="39471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地利（威胁）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80961" y="43634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D3D3D"/>
                  </a:solidFill>
                  <a:latin typeface="Segoe UI"/>
                  <a:ea typeface="Microsoft YaHei"/>
                  <a:cs typeface="Segoe UI"/>
                </a:rPr>
                <a:t>潜在危机、竞争对手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61711" y="4942999"/>
              <a:ext cx="5253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Threats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0" y="1905000"/>
            <a:ext cx="5334000" cy="3619500"/>
            <a:chOff x="5715000" y="1905000"/>
            <a:chExt cx="5334000" cy="3619500"/>
          </a:xfrm>
        </p:grpSpPr>
        <p:sp>
          <p:nvSpPr>
            <p:cNvPr id="29" name="Rectangle 29"/>
            <p:cNvSpPr/>
            <p:nvPr/>
          </p:nvSpPr>
          <p:spPr>
            <a:xfrm>
              <a:off x="5715000" y="1905000"/>
              <a:ext cx="5334000" cy="3619500"/>
            </a:xfrm>
            <a:prstGeom prst="roundRect">
              <a:avLst>
                <a:gd name="adj" fmla="val 1053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715000" y="1905000"/>
              <a:ext cx="5334000" cy="476250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78119" y="2073592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AI 深度解读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5985510" y="2442210"/>
              <a:ext cx="1942719" cy="1101090"/>
              <a:chOff x="5985510" y="2442210"/>
              <a:chExt cx="1942719" cy="1101090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5985510" y="2442210"/>
                <a:ext cx="17666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分析四象限的内在联系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985510" y="2727960"/>
                <a:ext cx="160667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引用相关道德经章节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85510" y="3013710"/>
                <a:ext cx="19267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给出符合道家思想的建议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985510" y="3299460"/>
                <a:ext cx="194271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保持"无为而无不为"理念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000750" y="36195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30718" y="3775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示例场景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5986462" y="3974306"/>
              <a:ext cx="2406372" cy="762000"/>
              <a:chOff x="5986462" y="3974306"/>
              <a:chExt cx="2406372" cy="762000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5986462" y="397430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决策：是否应该辞职创业？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986462" y="4241006"/>
                <a:ext cx="16937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→ 匹配第 8 章"上善若水"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986462" y="4507706"/>
                <a:ext cx="24063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→ 建议：不争而善胜，处众人之所恶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6000750" y="48577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88455" y="5030152"/>
              <a:ext cx="3387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应用场景：职业选择、创业决策、项目评估、人生规划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295859" y="6363652"/>
            <a:ext cx="147476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alt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10</a:t>
            </a:r>
            <a:endParaRPr lang="zh-CN" sz="1050" dirty="0">
              <a:solidFill>
                <a:srgbClr val="B0ADA6"/>
              </a:solidFill>
              <a:latin typeface="Consolas"/>
              <a:ea typeface="Microsoft YaHei"/>
              <a:cs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8" grpId="0"/>
      <p:bldP spid="45" grpId="0"/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28528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场景共鸣卡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942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12 张现代焦虑情境 · 点击直接走流式对话 · 零后端新增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762000" y="1905000"/>
            <a:ext cx="10096500" cy="2952750"/>
            <a:chOff x="762000" y="1905000"/>
            <a:chExt cx="10096500" cy="295275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746456" y="20926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失眠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55169" y="23712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夜不能寐，心绪不宁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333750" y="190500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18206" y="20926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拖延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96903" y="23712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明日复明日，万事成蹉跎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905500" y="190500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89956" y="20926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失恋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98669" y="23712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情感受挫，难以释怀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477250" y="190500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61706" y="20926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迷茫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0419" y="23712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前路未卜，不知何往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295275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57433" y="3140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职场内卷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55169" y="34189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竞争激烈，身心俱疲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333750" y="295275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129183" y="3140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育儿焦虑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61911" y="34189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教育内卷，起跑线焦虑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905500" y="295275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00933" y="3140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经济压力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98669" y="34189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收入焦虑，消费主义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477250" y="295275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72683" y="3140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亲密关系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70419" y="34189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沟通障碍，情感疏离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00050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57433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信息焦虑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90161" y="446674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信息过载，注意力分散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33750" y="400050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129183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完美主义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926919" y="44667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追求完美，自我苛责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905500" y="400050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00933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自我怀疑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98669" y="44667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能力不足，信心缺失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000500"/>
              <a:ext cx="2381250" cy="857250"/>
            </a:xfrm>
            <a:prstGeom prst="roundRect">
              <a:avLst>
                <a:gd name="adj" fmla="val 4444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72683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突发变故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70419" y="44667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意外来袭，措手不及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5048250"/>
            <a:ext cx="10287000" cy="952500"/>
            <a:chOff x="762000" y="5048250"/>
            <a:chExt cx="10287000" cy="952500"/>
          </a:xfrm>
        </p:grpSpPr>
        <p:sp>
          <p:nvSpPr>
            <p:cNvPr id="43" name="Rectangle 43"/>
            <p:cNvSpPr/>
            <p:nvPr/>
          </p:nvSpPr>
          <p:spPr>
            <a:xfrm>
              <a:off x="762000" y="5048250"/>
              <a:ext cx="10287000" cy="952500"/>
            </a:xfrm>
            <a:prstGeom prst="roundRect">
              <a:avLst>
                <a:gd name="adj" fmla="val 4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510308" y="52358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技术实现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128712" y="5450681"/>
              <a:ext cx="9126260" cy="228600"/>
              <a:chOff x="1128712" y="5450681"/>
              <a:chExt cx="9126260" cy="228600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1128712" y="5450681"/>
                <a:ext cx="339649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零后端新增 · 点击直接走 /api/ai/chat/stream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938712" y="5450681"/>
                <a:ext cx="258639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ScenarioCards.vue · 4×3 网格布局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748712" y="5450681"/>
                <a:ext cx="15062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议事模式下自动隐藏</a:t>
                </a:r>
              </a:p>
            </p:txBody>
          </p:sp>
        </p:grpSp>
      </p:grpSp>
      <p:sp>
        <p:nvSpPr>
          <p:cNvPr id="50" name="TextBox 50"/>
          <p:cNvSpPr txBox="1"/>
          <p:nvPr/>
        </p:nvSpPr>
        <p:spPr>
          <a:xfrm>
            <a:off x="11332654" y="6363652"/>
            <a:ext cx="1106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42" grpId="0"/>
      <p:bldP spid="49" grpId="0"/>
      <p:bldP spid="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411566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道境 · 数字艺术画廊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27988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AI 生成道家意境数字艺术 · 经文变画作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905000"/>
            <a:ext cx="4953000" cy="3333750"/>
            <a:chOff x="762000" y="1905000"/>
            <a:chExt cx="4953000" cy="333375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4953000" cy="3333750"/>
            </a:xfrm>
            <a:prstGeom prst="roundRect">
              <a:avLst>
                <a:gd name="adj" fmla="val 1143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68461" y="2092642"/>
              <a:ext cx="1140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7 种艺术风格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381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952500" y="2571750"/>
              <a:ext cx="4572000" cy="952500"/>
              <a:chOff x="952500" y="2571750"/>
              <a:chExt cx="4572000" cy="952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2571750"/>
                <a:ext cx="1047750" cy="428625"/>
              </a:xfrm>
              <a:prstGeom prst="roundRect">
                <a:avLst>
                  <a:gd name="adj" fmla="val 444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03960" y="2752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水墨山水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2095500" y="2571750"/>
                <a:ext cx="1047750" cy="428625"/>
              </a:xfrm>
              <a:prstGeom prst="roundRect">
                <a:avLst>
                  <a:gd name="adj" fmla="val 444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346960" y="2752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赛博朋克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3238500" y="2571750"/>
                <a:ext cx="1047750" cy="428625"/>
              </a:xfrm>
              <a:prstGeom prst="roundRect">
                <a:avLst>
                  <a:gd name="adj" fmla="val 444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489960" y="2752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抽象写意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4381500" y="2571750"/>
                <a:ext cx="1143000" cy="428625"/>
              </a:xfrm>
              <a:prstGeom prst="roundRect">
                <a:avLst>
                  <a:gd name="adj" fmla="val 444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80585" y="27522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禅意极简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952500" y="3095625"/>
                <a:ext cx="1047750" cy="428625"/>
              </a:xfrm>
              <a:prstGeom prst="roundRect">
                <a:avLst>
                  <a:gd name="adj" fmla="val 444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03960" y="32284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青绿山水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095500" y="3095625"/>
                <a:ext cx="1047750" cy="428625"/>
              </a:xfrm>
              <a:prstGeom prst="roundRect">
                <a:avLst>
                  <a:gd name="adj" fmla="val 444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346960" y="32284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泼墨写意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238500" y="3095625"/>
                <a:ext cx="1047750" cy="428625"/>
              </a:xfrm>
              <a:prstGeom prst="roundRect">
                <a:avLst>
                  <a:gd name="adj" fmla="val 444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489960" y="32284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仙侠奇幻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952500" y="35718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938212" y="3593306"/>
              <a:ext cx="2236947" cy="1166813"/>
              <a:chOff x="938212" y="3593306"/>
              <a:chExt cx="2236947" cy="1166813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938212" y="3593306"/>
                <a:ext cx="9421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Prompt 工程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0118" y="3847624"/>
                <a:ext cx="20985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`道家哲学意境画：「${quote}」，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0118" y="4038124"/>
                <a:ext cx="183199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${styleDesc}，高质量，精细`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38212" y="430768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负面提示词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40118" y="4561999"/>
                <a:ext cx="22350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low quality, blurry, watermark...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6096000" y="1905000"/>
            <a:ext cx="4953000" cy="3333750"/>
            <a:chOff x="6096000" y="1905000"/>
            <a:chExt cx="4953000" cy="3333750"/>
          </a:xfrm>
        </p:grpSpPr>
        <p:sp>
          <p:nvSpPr>
            <p:cNvPr id="32" name="Rectangle 32"/>
            <p:cNvSpPr/>
            <p:nvPr/>
          </p:nvSpPr>
          <p:spPr>
            <a:xfrm>
              <a:off x="6096000" y="1905000"/>
              <a:ext cx="4953000" cy="3333750"/>
            </a:xfrm>
            <a:prstGeom prst="roundRect">
              <a:avLst>
                <a:gd name="adj" fmla="val 1143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82796" y="2092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风格提示词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286500" y="2381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273165" y="2458402"/>
              <a:ext cx="1845945" cy="587217"/>
              <a:chOff x="6273165" y="2458402"/>
              <a:chExt cx="1845945" cy="587217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6273165" y="24584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水墨山水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74118" y="26569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中国传统水墨画风格，宣纸质感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274118" y="284749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留白写意，墨色浓淡变化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273165" y="3125152"/>
              <a:ext cx="1325881" cy="587217"/>
              <a:chOff x="6273165" y="3125152"/>
              <a:chExt cx="1325881" cy="587217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6273165" y="31251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禅意极简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274118" y="33237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大面积留白，淡墨晕染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274118" y="35142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枯山水意境，侘寂美学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273165" y="3791902"/>
              <a:ext cx="1195864" cy="587217"/>
              <a:chOff x="6273165" y="3791902"/>
              <a:chExt cx="1195864" cy="587217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6273165" y="37919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仙侠奇幻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74118" y="39904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仙山楼阁，瑞气祥云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74118" y="418099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古风人物，缥缈意境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6286500" y="4476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272212" y="4498181"/>
              <a:ext cx="2288906" cy="678657"/>
              <a:chOff x="6272212" y="4498181"/>
              <a:chExt cx="2288906" cy="678657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6272212" y="44981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社区画廊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273165" y="47444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作品展示 + 点赞收藏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73165" y="4963478"/>
                <a:ext cx="22879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作品详情：经文 + 画作 + 创作说明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762000" y="5524500"/>
            <a:ext cx="10287000" cy="571500"/>
            <a:chOff x="762000" y="5524500"/>
            <a:chExt cx="10287000" cy="571500"/>
          </a:xfrm>
        </p:grpSpPr>
        <p:sp>
          <p:nvSpPr>
            <p:cNvPr id="53" name="Rectangle 53"/>
            <p:cNvSpPr/>
            <p:nvPr/>
          </p:nvSpPr>
          <p:spPr>
            <a:xfrm>
              <a:off x="762000" y="5524500"/>
              <a:ext cx="10287000" cy="571500"/>
            </a:xfrm>
            <a:prstGeom prst="roundRect">
              <a:avLst>
                <a:gd name="adj" fmla="val 6667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004727" y="5755481"/>
              <a:ext cx="38015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选择经文/自由输入 → 选择风格 → AI 生成画作 → 社区展示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297650" y="63636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1" grpId="0"/>
      <p:bldP spid="52" grpId="0"/>
      <p:bldP spid="55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184423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共创社区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与同道中人交流心得，分享感悟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62000" y="1905000"/>
            <a:ext cx="3238500" cy="2667000"/>
            <a:chOff x="762000" y="1905000"/>
            <a:chExt cx="3238500" cy="2667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3238500" cy="2667000"/>
            </a:xfrm>
            <a:prstGeom prst="roundRect">
              <a:avLst>
                <a:gd name="adj" fmla="val 1429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905000"/>
              <a:ext cx="3238500" cy="476250"/>
            </a:xfrm>
            <a:prstGeom prst="roundRect">
              <a:avLst>
                <a:gd name="adj" fmla="val 8000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86058" y="2073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社区功能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38212" y="2450306"/>
              <a:ext cx="2121337" cy="1657350"/>
              <a:chOff x="938212" y="2450306"/>
              <a:chExt cx="2121337" cy="165735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8212" y="2450306"/>
                <a:ext cx="13562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发帖、评论、点赞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8212" y="2736056"/>
                <a:ext cx="21213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标签分类（章节/主题/感悟）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8212" y="302180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草稿箱功能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38212" y="330755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精华帖推荐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8212" y="35933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热门话题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8212" y="387905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用户等级</a:t>
                </a: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>
            <a:off x="4381500" y="1905000"/>
            <a:ext cx="3238500" cy="2667000"/>
            <a:chOff x="4381500" y="1905000"/>
            <a:chExt cx="3238500" cy="26670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905000"/>
              <a:ext cx="3238500" cy="2667000"/>
            </a:xfrm>
            <a:prstGeom prst="roundRect">
              <a:avLst>
                <a:gd name="adj" fmla="val 1429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81500" y="1905000"/>
              <a:ext cx="3238500" cy="476250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05558" y="2073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内容分类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4557712" y="2450306"/>
              <a:ext cx="756166" cy="1657350"/>
              <a:chOff x="4557712" y="2450306"/>
              <a:chExt cx="756166" cy="165735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4557712" y="24503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学习心得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57712" y="273605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决策案例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57712" y="30218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艺术创作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57712" y="330755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问题讨论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57712" y="35933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经文解读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57712" y="387905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生活感悟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8001000" y="1905000"/>
            <a:ext cx="3238500" cy="2667000"/>
            <a:chOff x="8001000" y="1905000"/>
            <a:chExt cx="3238500" cy="2667000"/>
          </a:xfrm>
        </p:grpSpPr>
        <p:sp>
          <p:nvSpPr>
            <p:cNvPr id="28" name="Rectangle 28"/>
            <p:cNvSpPr/>
            <p:nvPr/>
          </p:nvSpPr>
          <p:spPr>
            <a:xfrm>
              <a:off x="8001000" y="1905000"/>
              <a:ext cx="3238500" cy="2667000"/>
            </a:xfrm>
            <a:prstGeom prst="roundRect">
              <a:avLst>
                <a:gd name="adj" fmla="val 1429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01000" y="1905000"/>
              <a:ext cx="3238500" cy="476250"/>
            </a:xfrm>
            <a:prstGeom prst="roundRect">
              <a:avLst>
                <a:gd name="adj" fmla="val 8000"/>
              </a:avLst>
            </a:prstGeom>
            <a:solidFill>
              <a:srgbClr val="8C8C8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5058" y="2073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互动机制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8177212" y="2450306"/>
              <a:ext cx="1356241" cy="1276350"/>
              <a:chOff x="8177212" y="2450306"/>
              <a:chExt cx="1356241" cy="1276350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8177212" y="24503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社区统计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77212" y="273605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社区成员数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77212" y="2974181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讨论帖子数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77212" y="321230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今日活跃数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77212" y="3498056"/>
                <a:ext cx="13562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数字文创专区入口</a:t>
                </a: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762000" y="4857750"/>
            <a:ext cx="10477500" cy="1238250"/>
            <a:chOff x="762000" y="4857750"/>
            <a:chExt cx="10477500" cy="1238250"/>
          </a:xfrm>
        </p:grpSpPr>
        <p:sp>
          <p:nvSpPr>
            <p:cNvPr id="38" name="Rectangle 38"/>
            <p:cNvSpPr/>
            <p:nvPr/>
          </p:nvSpPr>
          <p:spPr>
            <a:xfrm>
              <a:off x="762000" y="4857750"/>
              <a:ext cx="10477500" cy="1238250"/>
            </a:xfrm>
            <a:prstGeom prst="roundRect">
              <a:avLst>
                <a:gd name="adj" fmla="val 3077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506650" y="5013960"/>
              <a:ext cx="988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API 路由设计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130618" y="5228749"/>
              <a:ext cx="9013603" cy="407670"/>
              <a:chOff x="1130618" y="5228749"/>
              <a:chExt cx="9013603" cy="407670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1130618" y="5228749"/>
                <a:ext cx="2392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GET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511618" y="5228749"/>
                <a:ext cx="14419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/api/community/posts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988118" y="5228749"/>
                <a:ext cx="19165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帖子列表（分页 + 标签过滤）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30618" y="5438299"/>
                <a:ext cx="3368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POST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606868" y="5438299"/>
                <a:ext cx="14419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/api/community/posts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988118" y="5438299"/>
                <a:ext cx="7268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创建帖子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369368" y="5228749"/>
                <a:ext cx="3368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POST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845618" y="5228749"/>
                <a:ext cx="19880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/api/community/posts/:id/like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417368" y="5228749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点赞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369368" y="5438299"/>
                <a:ext cx="33680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POST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845618" y="5438299"/>
                <a:ext cx="15134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/api/community/drafts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417368" y="5438299"/>
                <a:ext cx="7268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保存草稿</a:t>
                </a:r>
              </a:p>
            </p:txBody>
          </p:sp>
        </p:grpSp>
      </p:grpSp>
      <p:sp>
        <p:nvSpPr>
          <p:cNvPr id="54" name="TextBox 54"/>
          <p:cNvSpPr txBox="1"/>
          <p:nvPr/>
        </p:nvSpPr>
        <p:spPr>
          <a:xfrm>
            <a:off x="11297650" y="63636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学习路径系统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4149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23 章体系 · 道德经 81 章按主题分组 · 进度追踪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62000" y="1905000"/>
            <a:ext cx="4953000" cy="4191000"/>
            <a:chOff x="762000" y="1905000"/>
            <a:chExt cx="4953000" cy="4191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4953000" cy="4191000"/>
            </a:xfrm>
            <a:prstGeom prst="roundRect">
              <a:avLst>
                <a:gd name="adj" fmla="val 909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05503" y="2092642"/>
              <a:ext cx="8659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23 章列表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381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39165" y="2458402"/>
              <a:ext cx="1718215" cy="2356486"/>
              <a:chOff x="939165" y="2458402"/>
              <a:chExt cx="1718215" cy="2356486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9165" y="2458402"/>
                <a:ext cx="1456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01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272540" y="2458402"/>
                <a:ext cx="113280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道可道（第 1 章）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9165" y="2696528"/>
                <a:ext cx="1806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02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72540" y="2696528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美善相对（第 2 章）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9165" y="2934652"/>
                <a:ext cx="1806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03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72540" y="2934652"/>
                <a:ext cx="13078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上善若水（第 8 章）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39165" y="3172778"/>
                <a:ext cx="1806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04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72540" y="3172778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致虚守静（第 16 章）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9165" y="3410902"/>
                <a:ext cx="1806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05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72540" y="3410902"/>
                <a:ext cx="13848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道法自然（第 25 章）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9165" y="3649028"/>
                <a:ext cx="1806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06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72540" y="3649028"/>
                <a:ext cx="13848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知人自知（第 33 章）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9165" y="3887152"/>
                <a:ext cx="1806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07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72540" y="3887152"/>
                <a:ext cx="13848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道生万物（第 42 章）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9165" y="4125278"/>
                <a:ext cx="1806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08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72540" y="4125278"/>
                <a:ext cx="13848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为学日益（第 48 章）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9165" y="4363402"/>
                <a:ext cx="25769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...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39165" y="4601528"/>
                <a:ext cx="1806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23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272540" y="4601528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信言不美（第 81 章）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6096000" y="1905000"/>
            <a:ext cx="4953000" cy="1905000"/>
            <a:chOff x="6096000" y="1905000"/>
            <a:chExt cx="4953000" cy="1905000"/>
          </a:xfrm>
        </p:grpSpPr>
        <p:sp>
          <p:nvSpPr>
            <p:cNvPr id="30" name="Rectangle 30"/>
            <p:cNvSpPr/>
            <p:nvPr/>
          </p:nvSpPr>
          <p:spPr>
            <a:xfrm>
              <a:off x="6096000" y="1905000"/>
              <a:ext cx="49530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77308" y="2092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章节内容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286500" y="2381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272212" y="2450306"/>
              <a:ext cx="2451378" cy="1028700"/>
              <a:chOff x="6272212" y="2450306"/>
              <a:chExt cx="2451378" cy="102870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6272212" y="2450306"/>
                <a:ext cx="194881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原文展示（LXGW WenKai）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272212" y="271700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白话翻译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72212" y="2983706"/>
                <a:ext cx="24513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AI 解读（/api/ai/chat/stream）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72212" y="32504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现代应用场景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096000" y="4000500"/>
            <a:ext cx="4953000" cy="2095500"/>
            <a:chOff x="6096000" y="4000500"/>
            <a:chExt cx="4953000" cy="2095500"/>
          </a:xfrm>
        </p:grpSpPr>
        <p:sp>
          <p:nvSpPr>
            <p:cNvPr id="39" name="Rectangle 39"/>
            <p:cNvSpPr/>
            <p:nvPr/>
          </p:nvSpPr>
          <p:spPr>
            <a:xfrm>
              <a:off x="6096000" y="4000500"/>
              <a:ext cx="4953000" cy="2095500"/>
            </a:xfrm>
            <a:prstGeom prst="roundRect">
              <a:avLst>
                <a:gd name="adj" fmla="val 1818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77308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进度追踪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286500" y="4476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272212" y="4545806"/>
              <a:ext cx="1828800" cy="1028700"/>
              <a:chOff x="6272212" y="4545806"/>
              <a:chExt cx="1828800" cy="102870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272212" y="45458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learning_progress 表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72212" y="481250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已学章节数 / 总学习时长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72212" y="50792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连续学习天数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72212" y="534590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学习进度可视化</a:t>
                </a:r>
              </a:p>
            </p:txBody>
          </p:sp>
        </p:grpSp>
        <p:sp>
          <p:nvSpPr>
            <p:cNvPr id="47" name="Line 47"/>
            <p:cNvSpPr/>
            <p:nvPr/>
          </p:nvSpPr>
          <p:spPr>
            <a:xfrm>
              <a:off x="6286500" y="56673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79042" y="57731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进度纳入「修行账单」价值报告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297650" y="63636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9" grpId="0"/>
      <p:bldP spid="38" grpId="0"/>
      <p:bldP spid="49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3145343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TTS 语音合成器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4469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DeepSeek × MiMo 智能语音合成 · 多模式多音色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62000" y="1905000"/>
            <a:ext cx="3238500" cy="1714500"/>
            <a:chOff x="762000" y="1905000"/>
            <a:chExt cx="3238500" cy="17145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323850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905000"/>
              <a:ext cx="3238500" cy="428625"/>
            </a:xfrm>
            <a:prstGeom prst="roundRect">
              <a:avLst>
                <a:gd name="adj" fmla="val 8889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29968" y="20612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原文朗读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939165" y="2363152"/>
              <a:ext cx="1286828" cy="689610"/>
              <a:chOff x="939165" y="2363152"/>
              <a:chExt cx="1286828" cy="68961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9165" y="236315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道德经原文标准朗读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9165" y="2601278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选择章节即可播放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9165" y="283940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支持下载音频</a:t>
                </a: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4381500" y="1905000"/>
            <a:ext cx="3238500" cy="1714500"/>
            <a:chOff x="4381500" y="1905000"/>
            <a:chExt cx="3238500" cy="1714500"/>
          </a:xfrm>
        </p:grpSpPr>
        <p:sp>
          <p:nvSpPr>
            <p:cNvPr id="14" name="Rectangle 14"/>
            <p:cNvSpPr/>
            <p:nvPr/>
          </p:nvSpPr>
          <p:spPr>
            <a:xfrm>
              <a:off x="4381500" y="1905000"/>
              <a:ext cx="323850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905000"/>
              <a:ext cx="3238500" cy="428625"/>
            </a:xfrm>
            <a:prstGeom prst="roundRect">
              <a:avLst>
                <a:gd name="adj" fmla="val 8889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49468" y="20612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解读模式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558665" y="2363152"/>
              <a:ext cx="1580864" cy="689610"/>
              <a:chOff x="4558665" y="2363152"/>
              <a:chExt cx="1580864" cy="68961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558665" y="236315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AI 解读内容语音化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58665" y="2601278"/>
                <a:ext cx="15808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通俗/详细/深度三种风格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558665" y="28394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生成专属解读音频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8001000" y="1905000"/>
            <a:ext cx="3238500" cy="1714500"/>
            <a:chOff x="8001000" y="1905000"/>
            <a:chExt cx="3238500" cy="1714500"/>
          </a:xfrm>
        </p:grpSpPr>
        <p:sp>
          <p:nvSpPr>
            <p:cNvPr id="22" name="Rectangle 22"/>
            <p:cNvSpPr/>
            <p:nvPr/>
          </p:nvSpPr>
          <p:spPr>
            <a:xfrm>
              <a:off x="8001000" y="1905000"/>
              <a:ext cx="323850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01000" y="1905000"/>
              <a:ext cx="3238500" cy="428625"/>
            </a:xfrm>
            <a:prstGeom prst="roundRect">
              <a:avLst>
                <a:gd name="adj" fmla="val 8889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84958" y="20612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自定义内容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8178165" y="2363152"/>
              <a:ext cx="1146810" cy="689610"/>
              <a:chOff x="8178165" y="2363152"/>
              <a:chExt cx="1146810" cy="689610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8178165" y="23631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用户输入任意文本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178165" y="2601278"/>
                <a:ext cx="838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最多 5000 字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178165" y="283940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自定义语音配置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762000" y="3905250"/>
            <a:ext cx="4953000" cy="1905000"/>
            <a:chOff x="762000" y="3905250"/>
            <a:chExt cx="4953000" cy="1905000"/>
          </a:xfrm>
        </p:grpSpPr>
        <p:sp>
          <p:nvSpPr>
            <p:cNvPr id="30" name="Rectangle 30"/>
            <p:cNvSpPr/>
            <p:nvPr/>
          </p:nvSpPr>
          <p:spPr>
            <a:xfrm>
              <a:off x="762000" y="3905250"/>
              <a:ext cx="49530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843308" y="40928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语音配置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52500" y="43815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38212" y="4450556"/>
              <a:ext cx="1888808" cy="1028700"/>
              <a:chOff x="938212" y="4450556"/>
              <a:chExt cx="1888808" cy="102870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938212" y="445055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多种音色选择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38212" y="4717256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语速调节（0.5x - 2.0x）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38212" y="4983956"/>
                <a:ext cx="12062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音调、音量调节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38212" y="52506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播放控制 + 进度条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6096000" y="3905250"/>
            <a:ext cx="4953000" cy="1905000"/>
            <a:chOff x="6096000" y="3905250"/>
            <a:chExt cx="4953000" cy="1905000"/>
          </a:xfrm>
        </p:grpSpPr>
        <p:sp>
          <p:nvSpPr>
            <p:cNvPr id="39" name="Rectangle 39"/>
            <p:cNvSpPr/>
            <p:nvPr/>
          </p:nvSpPr>
          <p:spPr>
            <a:xfrm>
              <a:off x="6096000" y="3905250"/>
              <a:ext cx="49530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78833" y="4092892"/>
              <a:ext cx="11873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TTS Provider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286500" y="43815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272212" y="4450556"/>
              <a:ext cx="2143839" cy="1028700"/>
              <a:chOff x="6272212" y="4450556"/>
              <a:chExt cx="2143839" cy="102870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272212" y="4450556"/>
                <a:ext cx="18663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edge-tts（默认，免费）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72212" y="4717256"/>
                <a:ext cx="214383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ElevenLabs（高质量，付费）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72212" y="4983956"/>
                <a:ext cx="16187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MiniMax（中文优化）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72212" y="5250656"/>
                <a:ext cx="16112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CosyVoice（阿里云）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762000" y="6000750"/>
            <a:ext cx="10287000" cy="476250"/>
            <a:chOff x="762000" y="6000750"/>
            <a:chExt cx="10287000" cy="476250"/>
          </a:xfrm>
        </p:grpSpPr>
        <p:sp>
          <p:nvSpPr>
            <p:cNvPr id="48" name="Rectangle 48"/>
            <p:cNvSpPr/>
            <p:nvPr/>
          </p:nvSpPr>
          <p:spPr>
            <a:xfrm>
              <a:off x="762000" y="6000750"/>
              <a:ext cx="10287000" cy="476250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768447" y="6184106"/>
              <a:ext cx="4274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接收文本 → 选择 Provider → 调用 API → 返回音频流 → 播放/下载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297650" y="63636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语音输入系统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4629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Web Speech API · 浏览器原生语音识别 · 零依赖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62000" y="1905000"/>
            <a:ext cx="4953000" cy="2667000"/>
            <a:chOff x="762000" y="1905000"/>
            <a:chExt cx="4953000" cy="2667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4953000" cy="2667000"/>
            </a:xfrm>
            <a:prstGeom prst="roundRect">
              <a:avLst>
                <a:gd name="adj" fmla="val 1429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90414" y="2092642"/>
              <a:ext cx="18961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SpeechRecognizer 类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381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38212" y="2450306"/>
              <a:ext cx="1723787" cy="1028700"/>
              <a:chOff x="938212" y="2450306"/>
              <a:chExt cx="1723787" cy="102870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8212" y="2450306"/>
                <a:ext cx="15062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start() — 启动识别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8212" y="2717006"/>
                <a:ext cx="142374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stop() — 停止识别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8212" y="2983706"/>
                <a:ext cx="15062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abort() — 中止识别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38212" y="3250406"/>
                <a:ext cx="172378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isListening — 状态属性</a:t>
                </a:r>
              </a:p>
            </p:txBody>
          </p:sp>
        </p:grpSp>
        <p:sp>
          <p:nvSpPr>
            <p:cNvPr id="14" name="Line 14"/>
            <p:cNvSpPr/>
            <p:nvPr/>
          </p:nvSpPr>
          <p:spPr>
            <a:xfrm>
              <a:off x="952500" y="35718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38212" y="3593306"/>
              <a:ext cx="1455802" cy="897732"/>
              <a:chOff x="938212" y="3593306"/>
              <a:chExt cx="1455802" cy="89773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38212" y="359330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配置参数：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9165" y="3839528"/>
                <a:ext cx="9577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lang: 'zh-CN'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9165" y="4058602"/>
                <a:ext cx="12308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continuous: false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9165" y="427767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interimResults: true</a:t>
                </a: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6096000" y="1905000"/>
            <a:ext cx="4953000" cy="2667000"/>
            <a:chOff x="6096000" y="1905000"/>
            <a:chExt cx="4953000" cy="2667000"/>
          </a:xfrm>
        </p:grpSpPr>
        <p:sp>
          <p:nvSpPr>
            <p:cNvPr id="21" name="Rectangle 21"/>
            <p:cNvSpPr/>
            <p:nvPr/>
          </p:nvSpPr>
          <p:spPr>
            <a:xfrm>
              <a:off x="6096000" y="1905000"/>
              <a:ext cx="4953000" cy="2667000"/>
            </a:xfrm>
            <a:prstGeom prst="roundRect">
              <a:avLst>
                <a:gd name="adj" fmla="val 1429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77308" y="2092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事件处理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286500" y="2381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272212" y="2450306"/>
              <a:ext cx="1656278" cy="1562100"/>
              <a:chOff x="6272212" y="2450306"/>
              <a:chExt cx="1656278" cy="1562100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6272212" y="2450306"/>
                <a:ext cx="155126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onresult — 实时回显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72212" y="2717006"/>
                <a:ext cx="16112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区分 isFinal 和 interim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72212" y="2983706"/>
                <a:ext cx="16562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onerror — 错误本地化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72212" y="3250406"/>
                <a:ext cx="154376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mapErrorCode(code)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72212" y="3517106"/>
                <a:ext cx="131873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onstart / onend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272212" y="3783806"/>
                <a:ext cx="13487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更新 listening 状态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762000" y="4857750"/>
            <a:ext cx="10287000" cy="1238250"/>
            <a:chOff x="762000" y="4857750"/>
            <a:chExt cx="10287000" cy="1238250"/>
          </a:xfrm>
        </p:grpSpPr>
        <p:sp>
          <p:nvSpPr>
            <p:cNvPr id="32" name="Rectangle 32"/>
            <p:cNvSpPr/>
            <p:nvPr/>
          </p:nvSpPr>
          <p:spPr>
            <a:xfrm>
              <a:off x="762000" y="4857750"/>
              <a:ext cx="10287000" cy="1238250"/>
            </a:xfrm>
            <a:prstGeom prst="roundRect">
              <a:avLst>
                <a:gd name="adj" fmla="val 3077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86197" y="50139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错误码本地化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130618" y="5228749"/>
              <a:ext cx="8029742" cy="617220"/>
              <a:chOff x="1130618" y="5228749"/>
              <a:chExt cx="8029742" cy="61722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1130618" y="5228749"/>
                <a:ext cx="8113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'no-speech'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559368" y="5228749"/>
                <a:ext cx="17084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→ '没有检测到语音，请重试'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893118" y="5228749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'not-allowed'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321868" y="5228749"/>
                <a:ext cx="13184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→ '拒绝了麦克风权限'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30618" y="5438299"/>
                <a:ext cx="6943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'network'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559368" y="5438299"/>
                <a:ext cx="19685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→ '网络错误，语音识别需要联网'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893118" y="5438299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'audio-capture'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1868" y="5438299"/>
                <a:ext cx="11884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→ '无法访问麦克风'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130618" y="5647849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'aborted'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559368" y="5647849"/>
                <a:ext cx="11884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→ '语音识别被中止'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893118" y="56478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'service-not-allowed'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321868" y="5647849"/>
                <a:ext cx="18384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→ '浏览器禁止了语音识别服务'</a:t>
                </a:r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11297650" y="63636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0" grpId="0"/>
      <p:bldP spid="31" grpId="0"/>
      <p:bldP spid="47" grpId="0"/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411566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小小道童 · 智慧绘本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4149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让孩子也能听懂的东方智慧 · 现代方式呈现经典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1905000"/>
            <a:ext cx="3238500" cy="1905000"/>
            <a:chOff x="762000" y="1905000"/>
            <a:chExt cx="3238500" cy="1905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3238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86058" y="2092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年龄分级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381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52500" y="2571750"/>
              <a:ext cx="2857500" cy="381000"/>
              <a:chOff x="952500" y="2571750"/>
              <a:chExt cx="2857500" cy="381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2571750"/>
                <a:ext cx="857250" cy="381000"/>
              </a:xfrm>
              <a:prstGeom prst="roundRect">
                <a:avLst>
                  <a:gd name="adj" fmla="val 5000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61264" y="2715578"/>
                <a:ext cx="439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4-6 岁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905000" y="2571750"/>
                <a:ext cx="857250" cy="381000"/>
              </a:xfrm>
              <a:prstGeom prst="roundRect">
                <a:avLst>
                  <a:gd name="adj" fmla="val 5000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113764" y="2715578"/>
                <a:ext cx="439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7-9 岁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2857500" y="2571750"/>
                <a:ext cx="952500" cy="381000"/>
              </a:xfrm>
              <a:prstGeom prst="roundRect">
                <a:avLst>
                  <a:gd name="adj" fmla="val 5000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071884" y="2715578"/>
                <a:ext cx="5237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10-12 岁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939165" y="2982278"/>
              <a:ext cx="21479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D3D3D"/>
                  </a:solidFill>
                  <a:latin typeface="Segoe UI"/>
                  <a:ea typeface="Microsoft YaHei"/>
                  <a:cs typeface="Segoe UI"/>
                </a:rPr>
                <a:t>• 简单故事 → 深入理解 → 哲学思考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81500" y="1905000"/>
            <a:ext cx="3238500" cy="1905000"/>
            <a:chOff x="4381500" y="1905000"/>
            <a:chExt cx="3238500" cy="1905000"/>
          </a:xfrm>
        </p:grpSpPr>
        <p:sp>
          <p:nvSpPr>
            <p:cNvPr id="18" name="Rectangle 18"/>
            <p:cNvSpPr/>
            <p:nvPr/>
          </p:nvSpPr>
          <p:spPr>
            <a:xfrm>
              <a:off x="4381500" y="1905000"/>
              <a:ext cx="3238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05558" y="2092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互动功能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572000" y="2381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557712" y="2450306"/>
              <a:ext cx="1056203" cy="1028700"/>
              <a:chOff x="4557712" y="2450306"/>
              <a:chExt cx="1056203" cy="102870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557712" y="24503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翻页动画效果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57712" y="27170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自动播放模式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57712" y="2983706"/>
                <a:ext cx="104870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TTS 语音朗读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57712" y="32504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亲子共读场景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8001000" y="1905000"/>
            <a:ext cx="3238500" cy="1905000"/>
            <a:chOff x="8001000" y="1905000"/>
            <a:chExt cx="32385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8001000" y="1905000"/>
              <a:ext cx="3238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25058" y="2092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教育价值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191500" y="2381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177212" y="2450306"/>
              <a:ext cx="1356241" cy="1028700"/>
              <a:chOff x="8177212" y="2450306"/>
              <a:chExt cx="1356241" cy="102870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8177212" y="2450306"/>
                <a:ext cx="13562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培养传统文化兴趣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77212" y="2717006"/>
                <a:ext cx="10562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启发哲学思维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77212" y="2983706"/>
                <a:ext cx="135624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现代方式呈现经典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77212" y="325040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触达下一代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762000" y="4095750"/>
            <a:ext cx="10477500" cy="1905000"/>
            <a:chOff x="762000" y="4095750"/>
            <a:chExt cx="10477500" cy="1905000"/>
          </a:xfrm>
        </p:grpSpPr>
        <p:sp>
          <p:nvSpPr>
            <p:cNvPr id="36" name="Rectangle 36"/>
            <p:cNvSpPr/>
            <p:nvPr/>
          </p:nvSpPr>
          <p:spPr>
            <a:xfrm>
              <a:off x="762000" y="4095750"/>
              <a:ext cx="10477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05558" y="4283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绘本示例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1047750" y="4572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47750" y="4762500"/>
              <a:ext cx="3048000" cy="1047750"/>
              <a:chOff x="1047750" y="4762500"/>
              <a:chExt cx="3048000" cy="10477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1047750" y="4762500"/>
                <a:ext cx="3048000" cy="1047750"/>
              </a:xfrm>
              <a:prstGeom prst="roundRect">
                <a:avLst>
                  <a:gd name="adj" fmla="val 3636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1968436" y="4966335"/>
                <a:ext cx="12066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上善若水的故事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012347" y="5220652"/>
                <a:ext cx="11188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适合年龄: 7-9 岁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039302" y="5466874"/>
                <a:ext cx="10648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水善利万物而不争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381500" y="4762500"/>
              <a:ext cx="3048000" cy="1047750"/>
              <a:chOff x="4381500" y="4762500"/>
              <a:chExt cx="3048000" cy="10477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381500" y="4762500"/>
                <a:ext cx="3048000" cy="1047750"/>
              </a:xfrm>
              <a:prstGeom prst="roundRect">
                <a:avLst>
                  <a:gd name="adj" fmla="val 3636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218176" y="4966335"/>
                <a:ext cx="137464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千里之行始于足下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346097" y="5220652"/>
                <a:ext cx="11188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适合年龄: 4-6 岁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308044" y="5466874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合抱之木，生于毫末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715250" y="4762500"/>
              <a:ext cx="3048000" cy="1047750"/>
              <a:chOff x="7715250" y="4762500"/>
              <a:chExt cx="3048000" cy="104775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7715250" y="4762500"/>
                <a:ext cx="3048000" cy="1047750"/>
              </a:xfrm>
              <a:prstGeom prst="roundRect">
                <a:avLst>
                  <a:gd name="adj" fmla="val 3636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635936" y="4966335"/>
                <a:ext cx="12066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道法自然的智慧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637842" y="5220652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适合年龄: 10-12 岁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511778" y="5466874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人法地，地法天，天法道</a:t>
                </a:r>
              </a:p>
            </p:txBody>
          </p:sp>
        </p:grpSp>
      </p:grpSp>
      <p:sp>
        <p:nvSpPr>
          <p:cNvPr id="55" name="TextBox 55"/>
          <p:cNvSpPr txBox="1"/>
          <p:nvPr/>
        </p:nvSpPr>
        <p:spPr>
          <a:xfrm>
            <a:off x="11297650" y="63636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455672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价值仪表盘 · 修行账单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0388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让用户看见 AI 的价值 · 付费 ROI 一目了然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62000" y="1905000"/>
            <a:ext cx="2476500" cy="1714500"/>
            <a:chOff x="762000" y="1905000"/>
            <a:chExt cx="2476500" cy="17145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247650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08926" y="2041208"/>
              <a:ext cx="1182648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1,234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04950" y="2585085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当月调用次数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03557" y="2895124"/>
              <a:ext cx="993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0ADA6"/>
                  </a:solidFill>
                  <a:latin typeface="Segoe UI"/>
                  <a:ea typeface="Microsoft YaHei"/>
                  <a:cs typeface="Segoe UI"/>
                </a:rPr>
                <a:t>本月 AI 对话次数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047750" y="31908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3781" y="331279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+12% 较上月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619500" y="1905000"/>
            <a:ext cx="2476500" cy="1714500"/>
            <a:chOff x="3619500" y="1905000"/>
            <a:chExt cx="2476500" cy="1714500"/>
          </a:xfrm>
        </p:grpSpPr>
        <p:sp>
          <p:nvSpPr>
            <p:cNvPr id="13" name="Rectangle 13"/>
            <p:cNvSpPr/>
            <p:nvPr/>
          </p:nvSpPr>
          <p:spPr>
            <a:xfrm>
              <a:off x="3619500" y="1905000"/>
              <a:ext cx="247650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090004" y="2041208"/>
              <a:ext cx="153549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45,678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54436" y="2585085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累计 Token 消耗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05037" y="2895124"/>
              <a:ext cx="1305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0ADA6"/>
                  </a:solidFill>
                  <a:latin typeface="Segoe UI"/>
                  <a:ea typeface="Microsoft YaHei"/>
                  <a:cs typeface="Segoe UI"/>
                </a:rPr>
                <a:t>prompt + completion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905250" y="31908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92276" y="3312795"/>
              <a:ext cx="7309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≈ ¥0.45 成本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77000" y="1905000"/>
            <a:ext cx="2476500" cy="1714500"/>
            <a:chOff x="6477000" y="1905000"/>
            <a:chExt cx="2476500" cy="1714500"/>
          </a:xfrm>
        </p:grpSpPr>
        <p:sp>
          <p:nvSpPr>
            <p:cNvPr id="20" name="Rectangle 20"/>
            <p:cNvSpPr/>
            <p:nvPr/>
          </p:nvSpPr>
          <p:spPr>
            <a:xfrm>
              <a:off x="6477000" y="1905000"/>
              <a:ext cx="247650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26214" y="2041208"/>
              <a:ext cx="177807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¥37,020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299960" y="2585085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节省咨询费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08806" y="2895124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1234 次 × ¥30/次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762750" y="31908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40737" y="3312795"/>
              <a:ext cx="1349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对标心理咨询 ¥300/小时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34500" y="1905000"/>
            <a:ext cx="1905000" cy="1714500"/>
            <a:chOff x="9334500" y="1905000"/>
            <a:chExt cx="1905000" cy="1714500"/>
          </a:xfrm>
        </p:grpSpPr>
        <p:sp>
          <p:nvSpPr>
            <p:cNvPr id="27" name="Rectangle 27"/>
            <p:cNvSpPr/>
            <p:nvPr/>
          </p:nvSpPr>
          <p:spPr>
            <a:xfrm>
              <a:off x="9334500" y="1905000"/>
              <a:ext cx="190500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83125" y="204120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65%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951720" y="2585085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学习进度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27587" y="2895124"/>
              <a:ext cx="5188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B0ADA6"/>
                  </a:solidFill>
                  <a:latin typeface="Segoe UI"/>
                  <a:ea typeface="Microsoft YaHei"/>
                  <a:cs typeface="Segoe UI"/>
                </a:rPr>
                <a:t>15/23 章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525000" y="31908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975532" y="3312795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已学章节数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4000500"/>
            <a:ext cx="4953000" cy="1905000"/>
            <a:chOff x="762000" y="4000500"/>
            <a:chExt cx="4953000" cy="1905000"/>
          </a:xfrm>
        </p:grpSpPr>
        <p:sp>
          <p:nvSpPr>
            <p:cNvPr id="34" name="Rectangle 34"/>
            <p:cNvSpPr/>
            <p:nvPr/>
          </p:nvSpPr>
          <p:spPr>
            <a:xfrm>
              <a:off x="762000" y="4000500"/>
              <a:ext cx="4953000" cy="1905000"/>
            </a:xfrm>
            <a:prstGeom prst="roundRect">
              <a:avLst>
                <a:gd name="adj" fmla="val 2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25973" y="4156710"/>
              <a:ext cx="14250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3 路并行 SQL 聚合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52500" y="442912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3D3D3D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40118" y="4514374"/>
              <a:ext cx="3554706" cy="1150620"/>
              <a:chOff x="940118" y="4514374"/>
              <a:chExt cx="3554706" cy="1150620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940118" y="4514374"/>
                <a:ext cx="7268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-- 当月统计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40118" y="4704874"/>
                <a:ext cx="24105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SELECT COUNT(*), SUM(total_tokens)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40118" y="4895374"/>
                <a:ext cx="12664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FROM ai_usage_logs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40118" y="5085874"/>
                <a:ext cx="35547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WHERE created_at &gt;= DATE_FORMAT(NOW(),'%Y-%m-01')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40118" y="5276374"/>
                <a:ext cx="16174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-- 累计: 同上去掉日期条件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40118" y="5466874"/>
                <a:ext cx="259258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-- 学习进度: COUNT(DISTINCT chapter_id)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6096000" y="4000500"/>
            <a:ext cx="4953000" cy="1921669"/>
            <a:chOff x="6096000" y="4000500"/>
            <a:chExt cx="4953000" cy="1921669"/>
          </a:xfrm>
        </p:grpSpPr>
        <p:sp>
          <p:nvSpPr>
            <p:cNvPr id="45" name="Rectangle 45"/>
            <p:cNvSpPr/>
            <p:nvPr/>
          </p:nvSpPr>
          <p:spPr>
            <a:xfrm>
              <a:off x="6096000" y="4000500"/>
              <a:ext cx="49530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77308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缓存策略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6286500" y="4476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272212" y="4545806"/>
              <a:ext cx="2668905" cy="1028700"/>
              <a:chOff x="6272212" y="4545806"/>
              <a:chExt cx="2668905" cy="1028700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6272212" y="4545806"/>
                <a:ext cx="18888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5 分钟 localStorage 缓存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272212" y="4812506"/>
                <a:ext cx="233136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缓存键：valueReport:&lt;userId&gt;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72212" y="5079206"/>
                <a:ext cx="168628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ValueReportCard.vue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272212" y="5345906"/>
                <a:ext cx="26689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SVG 圆环进度（stroke-dasharray）</a:t>
                </a:r>
              </a:p>
            </p:txBody>
          </p:sp>
        </p:grpSp>
        <p:sp>
          <p:nvSpPr>
            <p:cNvPr id="53" name="Line 53"/>
            <p:cNvSpPr/>
            <p:nvPr/>
          </p:nvSpPr>
          <p:spPr>
            <a:xfrm>
              <a:off x="6286500" y="56673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30301" y="5724049"/>
              <a:ext cx="1084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10 个单元测试覆盖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297650" y="63636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五档定价策略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2388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覆盖 C 端到 B 端全场景 · Free → Enterprise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762000" y="1905000"/>
            <a:ext cx="10668000" cy="2857500"/>
            <a:chOff x="762000" y="1905000"/>
            <a:chExt cx="10668000" cy="28575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1905000" cy="28575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08331" y="20926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布衣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26110" y="2297430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¥0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01355" y="2609374"/>
              <a:ext cx="2262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/月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52500" y="2857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40118" y="2895124"/>
              <a:ext cx="674846" cy="617220"/>
              <a:chOff x="940118" y="2895124"/>
              <a:chExt cx="674846" cy="61722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940118" y="28951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新用户尝鲜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0118" y="31046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基础功能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0118" y="33142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每日限额</a:t>
                </a:r>
              </a:p>
            </p:txBody>
          </p:sp>
        </p:grpSp>
        <p:sp>
          <p:nvSpPr>
            <p:cNvPr id="15" name="Rectangle 15"/>
            <p:cNvSpPr/>
            <p:nvPr/>
          </p:nvSpPr>
          <p:spPr>
            <a:xfrm>
              <a:off x="2952750" y="1905000"/>
              <a:ext cx="1905000" cy="28575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99081" y="20926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居士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72754" y="2297430"/>
              <a:ext cx="46499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¥19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2105" y="2609374"/>
              <a:ext cx="2262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/月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143250" y="2857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130868" y="2895124"/>
              <a:ext cx="544830" cy="617220"/>
              <a:chOff x="3130868" y="2895124"/>
              <a:chExt cx="544830" cy="61722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3130868" y="2895124"/>
                <a:ext cx="5253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C 端核心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130868" y="31046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无限对话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130868" y="3314224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多人格</a:t>
                </a:r>
              </a:p>
            </p:txBody>
          </p:sp>
        </p:grpSp>
        <p:sp>
          <p:nvSpPr>
            <p:cNvPr id="24" name="Rectangle 24"/>
            <p:cNvSpPr/>
            <p:nvPr/>
          </p:nvSpPr>
          <p:spPr>
            <a:xfrm>
              <a:off x="5143500" y="1905000"/>
              <a:ext cx="1905000" cy="28575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89831" y="20926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宗师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26750" y="2297430"/>
              <a:ext cx="538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¥49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82855" y="2609374"/>
              <a:ext cx="2262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/月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0" y="2857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321618" y="2895124"/>
              <a:ext cx="544830" cy="617220"/>
              <a:chOff x="5321618" y="2895124"/>
              <a:chExt cx="544830" cy="617220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321618" y="28951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高频用户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21618" y="31046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优先响应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321618" y="33142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高级功能</a:t>
                </a:r>
              </a:p>
            </p:txBody>
          </p:sp>
        </p:grpSp>
        <p:sp>
          <p:nvSpPr>
            <p:cNvPr id="33" name="Rectangle 33"/>
            <p:cNvSpPr/>
            <p:nvPr/>
          </p:nvSpPr>
          <p:spPr>
            <a:xfrm>
              <a:off x="7334250" y="1905000"/>
              <a:ext cx="1905000" cy="28575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80581" y="20926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团队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36640" y="2297430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¥299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59078" y="2609374"/>
              <a:ext cx="655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/月 · 10 席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7524750" y="2857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512368" y="2895124"/>
              <a:ext cx="544830" cy="617220"/>
              <a:chOff x="7512368" y="2895124"/>
              <a:chExt cx="544830" cy="61722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7512368" y="28951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中小企业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512368" y="3104674"/>
                <a:ext cx="4343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10 席位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512368" y="33142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团队管理</a:t>
                </a:r>
              </a:p>
            </p:txBody>
          </p:sp>
        </p:grpSp>
        <p:sp>
          <p:nvSpPr>
            <p:cNvPr id="42" name="Rectangle 42"/>
            <p:cNvSpPr/>
            <p:nvPr/>
          </p:nvSpPr>
          <p:spPr>
            <a:xfrm>
              <a:off x="9525000" y="1905000"/>
              <a:ext cx="1905000" cy="28575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71331" y="20926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企业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00310" y="23307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联系洽谈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9715500" y="26670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703118" y="2704624"/>
              <a:ext cx="544830" cy="617220"/>
              <a:chOff x="9703118" y="2704624"/>
              <a:chExt cx="544830" cy="617220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9703118" y="27046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大型机构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703118" y="291417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定制部署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703118" y="31237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专属支持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762000" y="5048250"/>
            <a:ext cx="3429000" cy="952500"/>
            <a:chOff x="762000" y="5048250"/>
            <a:chExt cx="3429000" cy="952500"/>
          </a:xfrm>
        </p:grpSpPr>
        <p:sp>
          <p:nvSpPr>
            <p:cNvPr id="51" name="Rectangle 51"/>
            <p:cNvSpPr/>
            <p:nvPr/>
          </p:nvSpPr>
          <p:spPr>
            <a:xfrm>
              <a:off x="762000" y="5048250"/>
              <a:ext cx="3429000" cy="952500"/>
            </a:xfrm>
            <a:prstGeom prst="roundRect">
              <a:avLst>
                <a:gd name="adj" fmla="val 4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041208" y="525208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单元经济学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18047" y="5554028"/>
              <a:ext cx="191690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87% 毛利 · LTV ¥114 · CAC ¥20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051316" y="5781199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LTV/CAC 5.7×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572000" y="5048250"/>
            <a:ext cx="3429000" cy="952500"/>
            <a:chOff x="4572000" y="5048250"/>
            <a:chExt cx="3429000" cy="952500"/>
          </a:xfrm>
        </p:grpSpPr>
        <p:sp>
          <p:nvSpPr>
            <p:cNvPr id="56" name="Rectangle 56"/>
            <p:cNvSpPr/>
            <p:nvPr/>
          </p:nvSpPr>
          <p:spPr>
            <a:xfrm>
              <a:off x="4572000" y="5048250"/>
              <a:ext cx="3429000" cy="952500"/>
            </a:xfrm>
            <a:prstGeom prst="roundRect">
              <a:avLst>
                <a:gd name="adj" fmla="val 4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35218" y="52520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市场规模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07132" y="5554028"/>
              <a:ext cx="558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44A2B"/>
                  </a:solidFill>
                  <a:latin typeface="Consolas"/>
                  <a:ea typeface="Microsoft YaHei"/>
                  <a:cs typeface="Consolas"/>
                </a:rPr>
                <a:t>¥1270 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399758" y="5781199"/>
              <a:ext cx="17734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心理咨询 + AI 心理 + 国学教育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382000" y="5048250"/>
            <a:ext cx="2857500" cy="952500"/>
            <a:chOff x="8382000" y="5048250"/>
            <a:chExt cx="2857500" cy="952500"/>
          </a:xfrm>
        </p:grpSpPr>
        <p:sp>
          <p:nvSpPr>
            <p:cNvPr id="61" name="Rectangle 61"/>
            <p:cNvSpPr/>
            <p:nvPr/>
          </p:nvSpPr>
          <p:spPr>
            <a:xfrm>
              <a:off x="8382000" y="5048250"/>
              <a:ext cx="2857500" cy="952500"/>
            </a:xfrm>
            <a:prstGeom prst="roundRect">
              <a:avLst>
                <a:gd name="adj" fmla="val 4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358655" y="5252085"/>
              <a:ext cx="9041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checkLimit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03853" y="5554028"/>
              <a:ext cx="10137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D3D3D"/>
                  </a:solidFill>
                  <a:latin typeface="Segoe UI"/>
                  <a:ea typeface="Microsoft YaHei"/>
                  <a:cs typeface="Segoe UI"/>
                </a:rPr>
                <a:t>Free: 基础额度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75850" y="5773102"/>
              <a:ext cx="1069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D3D3D"/>
                  </a:solidFill>
                  <a:latin typeface="Segoe UI"/>
                  <a:ea typeface="Microsoft YaHei"/>
                  <a:cs typeface="Segoe UI"/>
                </a:rPr>
                <a:t>Team: 500次/日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1297650" y="63636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企业订阅系统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24867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Leads 系统 · 后台管理 · 状态流转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62000" y="1905000"/>
            <a:ext cx="4953000" cy="2667000"/>
            <a:chOff x="762000" y="1905000"/>
            <a:chExt cx="4953000" cy="2667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4953000" cy="2667000"/>
            </a:xfrm>
            <a:prstGeom prst="roundRect">
              <a:avLst>
                <a:gd name="adj" fmla="val 1429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905000"/>
              <a:ext cx="4953000" cy="476250"/>
            </a:xfrm>
            <a:prstGeom prst="roundRect">
              <a:avLst>
                <a:gd name="adj" fmla="val 8000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744070" y="2073592"/>
              <a:ext cx="9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Leads 系统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938212" y="2450306"/>
              <a:ext cx="1956316" cy="495300"/>
              <a:chOff x="938212" y="2450306"/>
              <a:chExt cx="1956316" cy="49530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8212" y="2450306"/>
                <a:ext cx="19563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POST /api/leads — 无需登录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8212" y="271700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B 端匿名可填</a:t>
                </a:r>
              </a:p>
            </p:txBody>
          </p:sp>
        </p:grpSp>
        <p:sp>
          <p:nvSpPr>
            <p:cNvPr id="12" name="Line 12"/>
            <p:cNvSpPr/>
            <p:nvPr/>
          </p:nvSpPr>
          <p:spPr>
            <a:xfrm>
              <a:off x="952500" y="300037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38212" y="3021806"/>
              <a:ext cx="1630823" cy="1335882"/>
              <a:chOff x="938212" y="3021806"/>
              <a:chExt cx="1630823" cy="1335882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38212" y="302180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校验规则：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9165" y="3268028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name: 必填，≤100 字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39165" y="3487102"/>
                <a:ext cx="15878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email: 必填，格式校验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39165" y="3706178"/>
                <a:ext cx="16298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phone: 可选，格式校验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9165" y="3925252"/>
                <a:ext cx="14338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teamSize: 枚举校验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9165" y="4144328"/>
                <a:ext cx="12518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intent: 枚举校验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6096000" y="1905000"/>
            <a:ext cx="4953000" cy="1428750"/>
            <a:chOff x="6096000" y="1905000"/>
            <a:chExt cx="49530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096000" y="1905000"/>
              <a:ext cx="4953000" cy="1428750"/>
            </a:xfrm>
            <a:prstGeom prst="roundRect">
              <a:avLst>
                <a:gd name="adj" fmla="val 2667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0" y="1905000"/>
              <a:ext cx="4953000" cy="476250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77308" y="2073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状态流转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286500" y="2571750"/>
              <a:ext cx="4572000" cy="333375"/>
              <a:chOff x="6286500" y="2571750"/>
              <a:chExt cx="4572000" cy="33337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286500" y="2571750"/>
                <a:ext cx="762000" cy="333375"/>
              </a:xfrm>
              <a:prstGeom prst="roundRect">
                <a:avLst>
                  <a:gd name="adj" fmla="val 571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534852" y="2695099"/>
                <a:ext cx="26529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new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223760" y="2632710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→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7429500" y="2571750"/>
                <a:ext cx="952500" cy="333375"/>
              </a:xfrm>
              <a:prstGeom prst="roundRect">
                <a:avLst>
                  <a:gd name="adj" fmla="val 571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571577" y="2695099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contacted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57260" y="2632710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→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8763000" y="2571750"/>
                <a:ext cx="952500" cy="333375"/>
              </a:xfrm>
              <a:prstGeom prst="roundRect">
                <a:avLst>
                  <a:gd name="adj" fmla="val 571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953833" y="269509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qualified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890760" y="2632710"/>
                <a:ext cx="1184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→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10096500" y="2571750"/>
                <a:ext cx="762000" cy="333375"/>
              </a:xfrm>
              <a:prstGeom prst="roundRect">
                <a:avLst>
                  <a:gd name="adj" fmla="val 5714"/>
                </a:avLst>
              </a:prstGeom>
              <a:noFill/>
              <a:ln w="14288">
                <a:solidFill>
                  <a:srgbClr val="C44A2B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266843" y="2695099"/>
                <a:ext cx="42131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closed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6096000" y="3524250"/>
            <a:ext cx="4953000" cy="1047750"/>
            <a:chOff x="6096000" y="3524250"/>
            <a:chExt cx="4953000" cy="1047750"/>
          </a:xfrm>
        </p:grpSpPr>
        <p:sp>
          <p:nvSpPr>
            <p:cNvPr id="37" name="Rectangle 37"/>
            <p:cNvSpPr/>
            <p:nvPr/>
          </p:nvSpPr>
          <p:spPr>
            <a:xfrm>
              <a:off x="6096000" y="3524250"/>
              <a:ext cx="4953000" cy="1047750"/>
            </a:xfrm>
            <a:prstGeom prst="roundRect">
              <a:avLst>
                <a:gd name="adj" fmla="val 3636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77308" y="37118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后台管理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286500" y="40005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273165" y="4030028"/>
              <a:ext cx="3633073" cy="213360"/>
              <a:chOff x="6273165" y="4030028"/>
              <a:chExt cx="3633073" cy="213360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6273165" y="4030028"/>
                <a:ext cx="14548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GET /api/admin/leads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654415" y="4030028"/>
                <a:ext cx="12518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分页 + status 过滤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62000" y="4857750"/>
            <a:ext cx="10287000" cy="1143000"/>
            <a:chOff x="762000" y="4857750"/>
            <a:chExt cx="10287000" cy="1143000"/>
          </a:xfrm>
        </p:grpSpPr>
        <p:sp>
          <p:nvSpPr>
            <p:cNvPr id="44" name="Rectangle 44"/>
            <p:cNvSpPr/>
            <p:nvPr/>
          </p:nvSpPr>
          <p:spPr>
            <a:xfrm>
              <a:off x="762000" y="4857750"/>
              <a:ext cx="10287000" cy="1143000"/>
            </a:xfrm>
            <a:prstGeom prst="roundRect">
              <a:avLst>
                <a:gd name="adj" fmla="val 3333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714113" y="5013960"/>
              <a:ext cx="23827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校验函数 validateLeadInput()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1130618" y="5228749"/>
              <a:ext cx="6464213" cy="579120"/>
              <a:chOff x="1130618" y="5228749"/>
              <a:chExt cx="6464213" cy="579120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1130618" y="5228749"/>
                <a:ext cx="11429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const errors = []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988118" y="5228749"/>
                <a:ext cx="36067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if (isBlank(input.name)) errors.push('name required')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130618" y="5419249"/>
                <a:ext cx="38277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if (!EMAIL_REGEX.test(email)) errors.push('email invalid')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988118" y="5419249"/>
                <a:ext cx="20660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10 个单元测试覆盖 7 类校验路径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130618" y="5609749"/>
                <a:ext cx="291762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return { valid: errors.length === 0, errors }</a:t>
                </a:r>
              </a:p>
            </p:txBody>
          </p:sp>
        </p:grpSp>
      </p:grpSp>
      <p:sp>
        <p:nvSpPr>
          <p:cNvPr id="53" name="TextBox 53"/>
          <p:cNvSpPr txBox="1"/>
          <p:nvPr/>
        </p:nvSpPr>
        <p:spPr>
          <a:xfrm>
            <a:off x="112626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前端架构详解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078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Vue 3 + Vite · 16 个页面组件 · 路由懒加载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62000" y="1905000"/>
            <a:ext cx="4953000" cy="4331494"/>
            <a:chOff x="762000" y="1905000"/>
            <a:chExt cx="4953000" cy="4331494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4953000" cy="4191000"/>
            </a:xfrm>
            <a:prstGeom prst="roundRect">
              <a:avLst>
                <a:gd name="adj" fmla="val 909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504970" y="2061210"/>
              <a:ext cx="14670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vue-project/src/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33362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3D3D3D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40118" y="2418874"/>
              <a:ext cx="2001012" cy="3817620"/>
              <a:chOff x="940118" y="2418874"/>
              <a:chExt cx="2001012" cy="381762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40118" y="2418874"/>
                <a:ext cx="7008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├── views/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0118" y="2609374"/>
                <a:ext cx="12664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HomeView.vue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0118" y="2799874"/>
                <a:ext cx="200101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AIInterpretationView.vue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0118" y="2990374"/>
                <a:ext cx="185799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DecisionHelperView.vue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0118" y="3180874"/>
                <a:ext cx="13834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DaoArtView.vue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0118" y="3371374"/>
                <a:ext cx="161746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CommunityView.vue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0118" y="3561874"/>
                <a:ext cx="177998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LearningPathView.vue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0118" y="3752374"/>
                <a:ext cx="17084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PictureBookView.vue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118" y="3942874"/>
                <a:ext cx="11689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TTSView.vue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118" y="4133374"/>
                <a:ext cx="174748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└── BusinessPlanView.vue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0118" y="4323874"/>
                <a:ext cx="8893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├── services/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0118" y="4514374"/>
                <a:ext cx="11819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aiService.ts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40118" y="4704874"/>
                <a:ext cx="12859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ragService.ts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40118" y="4895374"/>
                <a:ext cx="17344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communityService.ts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0118" y="5085874"/>
                <a:ext cx="18254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└── valueReportService.ts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0118" y="5276374"/>
                <a:ext cx="77885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├── stores/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0118" y="5466874"/>
                <a:ext cx="8893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chat.ts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0118" y="5657374"/>
                <a:ext cx="88937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└── auth.ts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0118" y="5847874"/>
                <a:ext cx="6423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└── utils/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40118" y="6038374"/>
                <a:ext cx="16434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└── speechRecognition.ts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6096000" y="1905000"/>
            <a:ext cx="4953000" cy="1905000"/>
            <a:chOff x="6096000" y="1905000"/>
            <a:chExt cx="4953000" cy="1905000"/>
          </a:xfrm>
        </p:grpSpPr>
        <p:sp>
          <p:nvSpPr>
            <p:cNvPr id="31" name="Rectangle 31"/>
            <p:cNvSpPr/>
            <p:nvPr/>
          </p:nvSpPr>
          <p:spPr>
            <a:xfrm>
              <a:off x="6096000" y="1905000"/>
              <a:ext cx="49530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82796" y="209264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路由懒加载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286500" y="2381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274118" y="2466499"/>
              <a:ext cx="3002137" cy="1245870"/>
              <a:chOff x="6274118" y="2466499"/>
              <a:chExt cx="3002137" cy="12458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274118" y="2466499"/>
                <a:ext cx="15004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const routeLoaders = {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74118" y="2656999"/>
                <a:ext cx="27486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Home: () =&gt; import('@/views/HomeView'),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74118" y="2847499"/>
                <a:ext cx="300213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AI: () =&gt; import('@/views/AIInterpretation'),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274118" y="3037999"/>
                <a:ext cx="9998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// ... 16 个路由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274118" y="3228499"/>
                <a:ext cx="962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}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274118" y="3514249"/>
                <a:ext cx="196850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// prefetchRoute() 主动预加载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6096000" y="4000500"/>
            <a:ext cx="4953000" cy="2095500"/>
            <a:chOff x="6096000" y="4000500"/>
            <a:chExt cx="4953000" cy="2095500"/>
          </a:xfrm>
        </p:grpSpPr>
        <p:sp>
          <p:nvSpPr>
            <p:cNvPr id="42" name="Rectangle 42"/>
            <p:cNvSpPr/>
            <p:nvPr/>
          </p:nvSpPr>
          <p:spPr>
            <a:xfrm>
              <a:off x="6096000" y="4000500"/>
              <a:ext cx="4953000" cy="2095500"/>
            </a:xfrm>
            <a:prstGeom prst="roundRect">
              <a:avLst>
                <a:gd name="adj" fmla="val 1818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77308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性能优化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286500" y="4476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273165" y="4553902"/>
              <a:ext cx="2269045" cy="1399223"/>
              <a:chOff x="6273165" y="4553902"/>
              <a:chExt cx="2269045" cy="1399223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6273165" y="4553902"/>
                <a:ext cx="11258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大依赖手动分包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275070" y="4779645"/>
                <a:ext cx="22671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three / markdown / search / vue-core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273165" y="5011102"/>
                <a:ext cx="22109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ES2020 target + CSS code split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273165" y="5258752"/>
                <a:ext cx="18048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PWA precache + SWR 缓存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273165" y="5506402"/>
                <a:ext cx="16928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AI 流式路径排除 SW 拦截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75070" y="5770245"/>
                <a:ext cx="218913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navigateFallbackDenylist: [/^\/api/]</a:t>
                </a:r>
              </a:p>
            </p:txBody>
          </p:sp>
        </p:grpSp>
      </p:grpSp>
      <p:sp>
        <p:nvSpPr>
          <p:cNvPr id="53" name="TextBox 53"/>
          <p:cNvSpPr txBox="1"/>
          <p:nvPr/>
        </p:nvSpPr>
        <p:spPr>
          <a:xfrm>
            <a:off x="11297650" y="6363652"/>
            <a:ext cx="1456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30" grpId="0"/>
      <p:bldP spid="41" grpId="0"/>
      <p:bldP spid="52" grpId="0"/>
      <p:bldP spid="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272634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后端架构详解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32468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Express + MySQL · 20+ API 路由 · 纯函数库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2000" y="1905000"/>
            <a:ext cx="4953000" cy="4191000"/>
            <a:chOff x="762000" y="1905000"/>
            <a:chExt cx="4953000" cy="4191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4953000" cy="4191000"/>
            </a:xfrm>
            <a:prstGeom prst="roundRect">
              <a:avLst>
                <a:gd name="adj" fmla="val 909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53614" y="2061210"/>
              <a:ext cx="7697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44A2B"/>
                  </a:solidFill>
                  <a:latin typeface="Segoe UI"/>
                  <a:ea typeface="Microsoft YaHei"/>
                  <a:cs typeface="Segoe UI"/>
                </a:rPr>
                <a:t>backend/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952500" y="2333625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3D3D3D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40118" y="2418874"/>
              <a:ext cx="1760482" cy="3246120"/>
              <a:chOff x="940118" y="2418874"/>
              <a:chExt cx="1760482" cy="324612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40118" y="2418874"/>
                <a:ext cx="12144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├── app.js (209KB)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0118" y="2609374"/>
                <a:ext cx="14484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└── 主应用 + 所有路由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0118" y="2847499"/>
                <a:ext cx="49932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├── lib/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0118" y="3037999"/>
                <a:ext cx="11494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sse-utils.js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40118" y="3228499"/>
                <a:ext cx="13704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council-utils.js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40118" y="3418999"/>
                <a:ext cx="15524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divination-utils.js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0118" y="3609499"/>
                <a:ext cx="176048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value-report-utils.js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0118" y="3799999"/>
                <a:ext cx="12599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leads-utils.js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0118" y="3990499"/>
                <a:ext cx="11494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├── art-utils.js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0118" y="4180999"/>
                <a:ext cx="14354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└── env-validator.js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0118" y="4419124"/>
                <a:ext cx="70735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├── tests/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0118" y="4609624"/>
                <a:ext cx="114290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└── node --test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40118" y="4847749"/>
                <a:ext cx="6358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├── data/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40118" y="5038249"/>
                <a:ext cx="13834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│ └── knowledge_base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40118" y="5276374"/>
                <a:ext cx="5643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8F5EE"/>
                    </a:solidFill>
                    <a:latin typeface="Consolas"/>
                    <a:ea typeface="Microsoft YaHei"/>
                    <a:cs typeface="Consolas"/>
                  </a:rPr>
                  <a:t>└── .env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40118" y="5466874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8C8C8C"/>
                    </a:solidFill>
                    <a:latin typeface="Consolas"/>
                    <a:ea typeface="Microsoft YaHei"/>
                    <a:cs typeface="Consolas"/>
                  </a:rPr>
                  <a:t>└── MySQL, JWT, AI keys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6096000" y="1905000"/>
            <a:ext cx="4953000" cy="1905000"/>
            <a:chOff x="6096000" y="1905000"/>
            <a:chExt cx="49530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6096000" y="1905000"/>
              <a:ext cx="49530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10237" y="2092642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纯函数库（无副作用）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286500" y="2381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273165" y="2458402"/>
              <a:ext cx="3065050" cy="1127760"/>
              <a:chOff x="6273165" y="2458402"/>
              <a:chExt cx="3065050" cy="112776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273165" y="2458402"/>
                <a:ext cx="1678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sse-utils.js — SSE 解析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273165" y="2687002"/>
                <a:ext cx="264499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council-utils.js — 议事逻辑（21 测试）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273165" y="2915602"/>
                <a:ext cx="30650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value-report-utils.js — 价值报告（10 测试）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273165" y="3144202"/>
                <a:ext cx="26730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leads-utils.js — Leads 校验（10 测试）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273165" y="3372802"/>
                <a:ext cx="19799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divination-utils.js — 道之签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6096000" y="4000500"/>
            <a:ext cx="4953000" cy="2095500"/>
            <a:chOff x="6096000" y="4000500"/>
            <a:chExt cx="4953000" cy="2095500"/>
          </a:xfrm>
        </p:grpSpPr>
        <p:sp>
          <p:nvSpPr>
            <p:cNvPr id="37" name="Rectangle 37"/>
            <p:cNvSpPr/>
            <p:nvPr/>
          </p:nvSpPr>
          <p:spPr>
            <a:xfrm>
              <a:off x="6096000" y="4000500"/>
              <a:ext cx="4953000" cy="2095500"/>
            </a:xfrm>
            <a:prstGeom prst="roundRect">
              <a:avLst>
                <a:gd name="adj" fmla="val 1818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45754" y="4188142"/>
              <a:ext cx="1253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MySQL 表结构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6286500" y="4476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273165" y="4553902"/>
              <a:ext cx="2357961" cy="1356360"/>
              <a:chOff x="6273165" y="4553902"/>
              <a:chExt cx="2357961" cy="1356360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6273165" y="4553902"/>
                <a:ext cx="11118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users — 用户表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273165" y="4782502"/>
                <a:ext cx="23579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conversations / messages — 对话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73165" y="5011102"/>
                <a:ext cx="17978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ai_usage_logs — 使用日志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73165" y="5239702"/>
                <a:ext cx="21059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learning_progress — 学习进度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73165" y="5468302"/>
                <a:ext cx="11958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leads — B 端线索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73165" y="5696902"/>
                <a:ext cx="20429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community_posts — 社区帖子</a:t>
                </a:r>
              </a:p>
            </p:txBody>
          </p:sp>
        </p:grpSp>
      </p:grpSp>
      <p:sp>
        <p:nvSpPr>
          <p:cNvPr id="48" name="TextBox 48"/>
          <p:cNvSpPr txBox="1"/>
          <p:nvPr/>
        </p:nvSpPr>
        <p:spPr>
          <a:xfrm>
            <a:off x="112626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26" grpId="0"/>
      <p:bldP spid="36" grpId="0"/>
      <p:bldP spid="47" grpId="0"/>
      <p:bldP spid="4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76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721995" y="945833"/>
            <a:ext cx="316739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测试与质量保障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6760" y="1442085"/>
            <a:ext cx="40549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40+ 单元测试 · Playwright E2E · GitHub Actions CI/CD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62000" y="1905000"/>
            <a:ext cx="3238500" cy="1905000"/>
            <a:chOff x="762000" y="1905000"/>
            <a:chExt cx="3238500" cy="1905000"/>
          </a:xfrm>
        </p:grpSpPr>
        <p:sp>
          <p:nvSpPr>
            <p:cNvPr id="6" name="Rectangle 6"/>
            <p:cNvSpPr/>
            <p:nvPr/>
          </p:nvSpPr>
          <p:spPr>
            <a:xfrm>
              <a:off x="762000" y="1905000"/>
              <a:ext cx="3238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905000"/>
              <a:ext cx="3238500" cy="428625"/>
            </a:xfrm>
            <a:prstGeom prst="roundRect">
              <a:avLst>
                <a:gd name="adj" fmla="val 8889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1947" y="20612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后端单元测试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939165" y="2363152"/>
              <a:ext cx="1937909" cy="1280160"/>
              <a:chOff x="939165" y="2363152"/>
              <a:chExt cx="1937909" cy="128016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39165" y="2363152"/>
                <a:ext cx="8387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node --test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39165" y="2591752"/>
                <a:ext cx="7617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+ c8 覆盖率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9165" y="2858452"/>
                <a:ext cx="9647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sse-utils.js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39165" y="3048952"/>
                <a:ext cx="15178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council-utils.js (21)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9165" y="3239452"/>
                <a:ext cx="19379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value-report-utils.js (10)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39165" y="3429952"/>
                <a:ext cx="1398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leads-utils.js (10)</a:t>
                </a:r>
              </a:p>
            </p:txBody>
          </p:sp>
        </p:grpSp>
      </p:grpSp>
      <p:grpSp>
        <p:nvGrpSpPr>
          <p:cNvPr id="28" name="Group 28"/>
          <p:cNvGrpSpPr/>
          <p:nvPr/>
        </p:nvGrpSpPr>
        <p:grpSpPr>
          <a:xfrm>
            <a:off x="4381500" y="1905000"/>
            <a:ext cx="3238500" cy="1905000"/>
            <a:chOff x="4381500" y="1905000"/>
            <a:chExt cx="3238500" cy="19050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905000"/>
              <a:ext cx="3238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81500" y="1905000"/>
              <a:ext cx="3238500" cy="428625"/>
            </a:xfrm>
            <a:prstGeom prst="roundRect">
              <a:avLst>
                <a:gd name="adj" fmla="val 8889"/>
              </a:avLst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60444" y="2061210"/>
              <a:ext cx="10806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前端 E2E 测试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558665" y="2363152"/>
              <a:ext cx="1076801" cy="1394460"/>
              <a:chOff x="4558665" y="2363152"/>
              <a:chExt cx="1076801" cy="139446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4558665" y="2363152"/>
                <a:ext cx="7547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Consolas"/>
                    <a:ea typeface="Microsoft YaHei"/>
                    <a:cs typeface="Consolas"/>
                  </a:rPr>
                  <a:t>Playwright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58665" y="2591752"/>
                <a:ext cx="5587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smoke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58665" y="2782252"/>
                <a:ext cx="83177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ai-stream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58665" y="29727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council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58665" y="3163252"/>
                <a:ext cx="9227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integration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58665" y="3353752"/>
                <a:ext cx="8807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enterprise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58665" y="3544252"/>
                <a:ext cx="107680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business-plan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001000" y="1905000"/>
            <a:ext cx="3238500" cy="1905000"/>
            <a:chOff x="8001000" y="1905000"/>
            <a:chExt cx="3238500" cy="1905000"/>
          </a:xfrm>
        </p:grpSpPr>
        <p:sp>
          <p:nvSpPr>
            <p:cNvPr id="29" name="Rectangle 29"/>
            <p:cNvSpPr/>
            <p:nvPr/>
          </p:nvSpPr>
          <p:spPr>
            <a:xfrm>
              <a:off x="8001000" y="1905000"/>
              <a:ext cx="3238500" cy="1905000"/>
            </a:xfrm>
            <a:prstGeom prst="roundRect">
              <a:avLst>
                <a:gd name="adj" fmla="val 2000"/>
              </a:avLst>
            </a:prstGeom>
            <a:solidFill>
              <a:srgbClr val="F8F5EE"/>
            </a:solidFill>
            <a:ln w="14288">
              <a:solidFill>
                <a:srgbClr val="C44A2B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01000" y="1905000"/>
              <a:ext cx="3238500" cy="428625"/>
            </a:xfrm>
            <a:prstGeom prst="roundRect">
              <a:avLst>
                <a:gd name="adj" fmla="val 8889"/>
              </a:avLst>
            </a:prstGeom>
            <a:solidFill>
              <a:srgbClr val="C44A2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94984" y="206121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DFBF7"/>
                  </a:solidFill>
                  <a:latin typeface="Segoe UI"/>
                  <a:ea typeface="Microsoft YaHei"/>
                  <a:cs typeface="Segoe UI"/>
                </a:rPr>
                <a:t>CI/CD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8178165" y="2363152"/>
              <a:ext cx="1342835" cy="1242060"/>
              <a:chOff x="8178165" y="2363152"/>
              <a:chExt cx="1342835" cy="1242060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8178165" y="2363152"/>
                <a:ext cx="999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GitHub Actions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78165" y="2591752"/>
                <a:ext cx="9227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backend job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78165" y="2782252"/>
                <a:ext cx="999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frontend job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78165" y="29727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e2e job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78165" y="3163252"/>
                <a:ext cx="10838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D3D3D"/>
                    </a:solidFill>
                    <a:latin typeface="Segoe UI"/>
                    <a:ea typeface="Microsoft YaHei"/>
                    <a:cs typeface="Segoe UI"/>
                  </a:rPr>
                  <a:t>• lighthouse job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78165" y="3391852"/>
                <a:ext cx="1342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44A2B"/>
                    </a:solidFill>
                    <a:latin typeface="Segoe UI"/>
                    <a:ea typeface="Microsoft YaHei"/>
                    <a:cs typeface="Segoe UI"/>
                  </a:rPr>
                  <a:t>cancel-in-progress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762000" y="4095750"/>
            <a:ext cx="10477500" cy="1714500"/>
            <a:chOff x="762000" y="4095750"/>
            <a:chExt cx="10477500" cy="1714500"/>
          </a:xfrm>
        </p:grpSpPr>
        <p:sp>
          <p:nvSpPr>
            <p:cNvPr id="40" name="Rectangle 40"/>
            <p:cNvSpPr/>
            <p:nvPr/>
          </p:nvSpPr>
          <p:spPr>
            <a:xfrm>
              <a:off x="762000" y="4095750"/>
              <a:ext cx="10477500" cy="1714500"/>
            </a:xfrm>
            <a:prstGeom prst="roundRect">
              <a:avLst>
                <a:gd name="adj" fmla="val 2222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081017" y="4283392"/>
              <a:ext cx="18394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Lighthouse 性能指标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52500" y="45720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E0DDD6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952500" y="4762500"/>
              <a:ext cx="10096500" cy="762000"/>
              <a:chOff x="952500" y="4762500"/>
              <a:chExt cx="10096500" cy="7620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952500" y="4762500"/>
                <a:ext cx="19050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636409" y="4853940"/>
                <a:ext cx="53718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≥ 70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454110" y="5173028"/>
                <a:ext cx="901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Performance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3048000" y="4762500"/>
                <a:ext cx="19050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3731909" y="4853940"/>
                <a:ext cx="53718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≥ 90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3556611" y="5173028"/>
                <a:ext cx="8877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Accessibility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5143500" y="4762500"/>
                <a:ext cx="19050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827409" y="4853940"/>
                <a:ext cx="53718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≥ 90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578602" y="5173028"/>
                <a:ext cx="10347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Best Practices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7239000" y="4762500"/>
                <a:ext cx="19050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922909" y="4853940"/>
                <a:ext cx="53718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≥ 85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048649" y="5173028"/>
                <a:ext cx="285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SEO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9334500" y="4762500"/>
                <a:ext cx="1714500" cy="762000"/>
              </a:xfrm>
              <a:prstGeom prst="roundRect">
                <a:avLst>
                  <a:gd name="adj" fmla="val 5000"/>
                </a:avLst>
              </a:prstGeom>
              <a:solidFill>
                <a:srgbClr val="FDFBF7"/>
              </a:solidFill>
              <a:ln w="9525">
                <a:solidFill>
                  <a:srgbClr val="E0DDD6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9923159" y="4853940"/>
                <a:ext cx="53718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C44A2B"/>
                    </a:solidFill>
                    <a:latin typeface="Consolas"/>
                    <a:ea typeface="Microsoft YaHei"/>
                    <a:cs typeface="Consolas"/>
                  </a:rPr>
                  <a:t>≥ 80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048899" y="5173028"/>
                <a:ext cx="285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C8C8C"/>
                    </a:solidFill>
                    <a:latin typeface="Segoe UI"/>
                    <a:ea typeface="Microsoft YaHei"/>
                    <a:cs typeface="Segoe UI"/>
                  </a:rPr>
                  <a:t>PWA</a:t>
                </a:r>
              </a:p>
            </p:txBody>
          </p:sp>
        </p:grpSp>
      </p:grpSp>
      <p:sp>
        <p:nvSpPr>
          <p:cNvPr id="60" name="TextBox 60"/>
          <p:cNvSpPr txBox="1"/>
          <p:nvPr/>
        </p:nvSpPr>
        <p:spPr>
          <a:xfrm>
            <a:off x="11262646" y="63636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0ADA6"/>
                </a:solidFill>
                <a:latin typeface="Consolas"/>
                <a:ea typeface="Microsoft YaHei"/>
                <a:cs typeface="Consolas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1428750"/>
            <a:ext cx="9525" cy="4000500"/>
          </a:xfrm>
          <a:custGeom>
            <a:avLst/>
            <a:gdLst/>
            <a:ahLst/>
            <a:cxnLst/>
            <a:rect l="l" t="t" r="r" b="b"/>
            <a:pathLst>
              <a:path w="9525" h="4000500">
                <a:moveTo>
                  <a:pt x="0" y="0"/>
                </a:moveTo>
                <a:lnTo>
                  <a:pt x="0" y="400050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4" name="Ellipse 4"/>
          <p:cNvSpPr/>
          <p:nvPr/>
        </p:nvSpPr>
        <p:spPr>
          <a:xfrm>
            <a:off x="6057900" y="2438400"/>
            <a:ext cx="76200" cy="76200"/>
          </a:xfrm>
          <a:prstGeom prst="ellipse">
            <a:avLst/>
          </a:prstGeom>
          <a:solidFill>
            <a:srgbClr val="C44A2B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362956" y="2529840"/>
            <a:ext cx="146608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1A1A1A"/>
                </a:solidFill>
                <a:latin typeface="LXGW WenKai"/>
                <a:ea typeface="Microsoft YaHei"/>
                <a:cs typeface="LXGW WenKai"/>
              </a:rPr>
              <a:t>谢谢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65014" y="3329940"/>
            <a:ext cx="20619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8C8C8C"/>
                </a:solidFill>
                <a:latin typeface="Segoe UI"/>
                <a:ea typeface="Microsoft YaHei"/>
                <a:cs typeface="Segoe UI"/>
              </a:rPr>
              <a:t>道德经 AI 平台 2.0</a:t>
            </a:r>
          </a:p>
        </p:txBody>
      </p:sp>
      <p:sp>
        <p:nvSpPr>
          <p:cNvPr id="7" name="Line 7"/>
          <p:cNvSpPr/>
          <p:nvPr/>
        </p:nvSpPr>
        <p:spPr>
          <a:xfrm>
            <a:off x="5143500" y="38100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792474" y="4061460"/>
            <a:ext cx="4607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0ADA6"/>
                </a:solidFill>
                <a:latin typeface="Segoe UI"/>
                <a:ea typeface="Microsoft YaHei"/>
                <a:cs typeface="Segoe UI"/>
              </a:rPr>
              <a:t>Vue 3 · Express · MySQL · DeepSeek · OpenRouter · OpenAI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40572" y="4458652"/>
            <a:ext cx="15108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0ADA6"/>
                </a:solidFill>
                <a:latin typeface="Segoe UI"/>
                <a:ea typeface="Microsoft YaHei"/>
                <a:cs typeface="Segoe UI"/>
              </a:rPr>
              <a:t>传智杯 AI Web 开发赛道</a:t>
            </a:r>
          </a:p>
        </p:txBody>
      </p:sp>
      <p:sp>
        <p:nvSpPr>
          <p:cNvPr id="10" name="Line 10"/>
          <p:cNvSpPr/>
          <p:nvPr/>
        </p:nvSpPr>
        <p:spPr>
          <a:xfrm>
            <a:off x="11430000" y="1428750"/>
            <a:ext cx="9525" cy="4000500"/>
          </a:xfrm>
          <a:custGeom>
            <a:avLst/>
            <a:gdLst/>
            <a:ahLst/>
            <a:cxnLst/>
            <a:rect l="l" t="t" r="r" b="b"/>
            <a:pathLst>
              <a:path w="9525" h="4000500">
                <a:moveTo>
                  <a:pt x="0" y="0"/>
                </a:moveTo>
                <a:lnTo>
                  <a:pt x="0" y="4000500"/>
                </a:lnTo>
              </a:path>
            </a:pathLst>
          </a:custGeom>
          <a:noFill/>
          <a:ln w="9525">
            <a:solidFill>
              <a:srgbClr val="E0DDD6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1905000" y="4953000"/>
            <a:ext cx="8382000" cy="762000"/>
            <a:chOff x="1905000" y="4953000"/>
            <a:chExt cx="8382000" cy="762000"/>
          </a:xfrm>
        </p:grpSpPr>
        <p:sp>
          <p:nvSpPr>
            <p:cNvPr id="11" name="Rectangle 11"/>
            <p:cNvSpPr/>
            <p:nvPr/>
          </p:nvSpPr>
          <p:spPr>
            <a:xfrm>
              <a:off x="1905000" y="4953000"/>
              <a:ext cx="8382000" cy="762000"/>
            </a:xfrm>
            <a:prstGeom prst="roundRect">
              <a:avLst>
                <a:gd name="adj" fmla="val 5000"/>
              </a:avLst>
            </a:prstGeom>
            <a:solidFill>
              <a:srgbClr val="F8F5EE"/>
            </a:solidFill>
            <a:ln w="9525">
              <a:solidFill>
                <a:srgbClr val="E0DDD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358545" y="5109210"/>
              <a:ext cx="34749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23 个核心功能 · 8 大技术模块 · 40+ 单元测试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31021" y="5363528"/>
              <a:ext cx="2329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8C8C"/>
                  </a:solidFill>
                  <a:latin typeface="Segoe UI"/>
                  <a:ea typeface="Microsoft YaHei"/>
                  <a:cs typeface="Segoe UI"/>
                </a:rPr>
                <a:t>借助 AI 智慧探索老子思想的现代价值</a:t>
              </a:r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D13AC301-0FF8-6CC0-4B71-52FCCBB3BF9A}"/>
              </a:ext>
            </a:extLst>
          </p:cNvPr>
          <p:cNvGrpSpPr/>
          <p:nvPr/>
        </p:nvGrpSpPr>
        <p:grpSpPr>
          <a:xfrm>
            <a:off x="5638800" y="1447800"/>
            <a:ext cx="914400" cy="914400"/>
            <a:chOff x="5638800" y="1447800"/>
            <a:chExt cx="914400" cy="914400"/>
          </a:xfrm>
        </p:grpSpPr>
        <p:sp>
          <p:nvSpPr>
            <p:cNvPr id="16" name="Ellipse 4">
              <a:extLst>
                <a:ext uri="{FF2B5EF4-FFF2-40B4-BE49-F238E27FC236}">
                  <a16:creationId xmlns:a16="http://schemas.microsoft.com/office/drawing/2014/main" id="{C5CF92CC-EB9A-90E3-C84B-F7EE775AC5AD}"/>
                </a:ext>
              </a:extLst>
            </p:cNvPr>
            <p:cNvSpPr/>
            <p:nvPr/>
          </p:nvSpPr>
          <p:spPr>
            <a:xfrm>
              <a:off x="5638800" y="1447800"/>
              <a:ext cx="914400" cy="914400"/>
            </a:xfrm>
            <a:prstGeom prst="ellipse">
              <a:avLst/>
            </a:prstGeom>
            <a:noFill/>
            <a:ln w="11430">
              <a:solidFill>
                <a:srgbClr val="1A1A1A"/>
              </a:solidFill>
            </a:ln>
          </p:spPr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0D9E776-0068-3995-14A9-E7658BED6B26}"/>
                </a:ext>
              </a:extLst>
            </p:cNvPr>
            <p:cNvSpPr/>
            <p:nvPr/>
          </p:nvSpPr>
          <p:spPr>
            <a:xfrm>
              <a:off x="5638800" y="1447800"/>
              <a:ext cx="685800" cy="914400"/>
            </a:xfrm>
            <a:custGeom>
              <a:avLst/>
              <a:gdLst/>
              <a:ahLst/>
              <a:cxnLst/>
              <a:rect l="l" t="t" r="r" b="b"/>
              <a:pathLst>
                <a:path w="685800" h="914400">
                  <a:moveTo>
                    <a:pt x="457200" y="0"/>
                  </a:moveTo>
                  <a:cubicBezTo>
                    <a:pt x="583452" y="0"/>
                    <a:pt x="685800" y="102348"/>
                    <a:pt x="685800" y="228600"/>
                  </a:cubicBezTo>
                  <a:cubicBezTo>
                    <a:pt x="685800" y="354852"/>
                    <a:pt x="583452" y="457200"/>
                    <a:pt x="457200" y="457200"/>
                  </a:cubicBezTo>
                  <a:cubicBezTo>
                    <a:pt x="330948" y="457200"/>
                    <a:pt x="228600" y="559548"/>
                    <a:pt x="228600" y="685800"/>
                  </a:cubicBezTo>
                  <a:cubicBezTo>
                    <a:pt x="228600" y="812052"/>
                    <a:pt x="330948" y="914400"/>
                    <a:pt x="457200" y="914400"/>
                  </a:cubicBezTo>
                  <a:cubicBezTo>
                    <a:pt x="204695" y="914400"/>
                    <a:pt x="0" y="709705"/>
                    <a:pt x="0" y="457200"/>
                  </a:cubicBezTo>
                  <a:cubicBezTo>
                    <a:pt x="0" y="204695"/>
                    <a:pt x="204695" y="0"/>
                    <a:pt x="457200" y="0"/>
                  </a:cubicBezTo>
                  <a:close/>
                </a:path>
              </a:pathLst>
            </a:custGeom>
            <a:noFill/>
            <a:ln w="11430">
              <a:solidFill>
                <a:srgbClr val="1A1A1A"/>
              </a:solidFill>
            </a:ln>
          </p:spPr>
        </p:sp>
        <p:sp>
          <p:nvSpPr>
            <p:cNvPr id="18" name="Ellipse 6">
              <a:extLst>
                <a:ext uri="{FF2B5EF4-FFF2-40B4-BE49-F238E27FC236}">
                  <a16:creationId xmlns:a16="http://schemas.microsoft.com/office/drawing/2014/main" id="{48935192-71BB-5FB2-8565-1138088753FC}"/>
                </a:ext>
              </a:extLst>
            </p:cNvPr>
            <p:cNvSpPr/>
            <p:nvPr/>
          </p:nvSpPr>
          <p:spPr>
            <a:xfrm>
              <a:off x="6067425" y="1647825"/>
              <a:ext cx="57150" cy="57150"/>
            </a:xfrm>
            <a:prstGeom prst="ellipse">
              <a:avLst/>
            </a:prstGeom>
            <a:noFill/>
            <a:ln w="11430">
              <a:solidFill>
                <a:srgbClr val="1A1A1A"/>
              </a:solidFill>
            </a:ln>
          </p:spPr>
        </p:sp>
        <p:sp>
          <p:nvSpPr>
            <p:cNvPr id="19" name="Ellipse 7">
              <a:extLst>
                <a:ext uri="{FF2B5EF4-FFF2-40B4-BE49-F238E27FC236}">
                  <a16:creationId xmlns:a16="http://schemas.microsoft.com/office/drawing/2014/main" id="{48002509-D424-32ED-1A60-13B3303CB7DB}"/>
                </a:ext>
              </a:extLst>
            </p:cNvPr>
            <p:cNvSpPr/>
            <p:nvPr/>
          </p:nvSpPr>
          <p:spPr>
            <a:xfrm>
              <a:off x="6067425" y="2105025"/>
              <a:ext cx="57150" cy="57150"/>
            </a:xfrm>
            <a:prstGeom prst="ellipse">
              <a:avLst/>
            </a:prstGeom>
            <a:noFill/>
            <a:ln w="11430">
              <a:solidFill>
                <a:srgbClr val="1A1A1A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3561</Words>
  <Application>Microsoft Office PowerPoint</Application>
  <PresentationFormat>宽屏</PresentationFormat>
  <Paragraphs>698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LXGW WenKai</vt:lpstr>
      <vt:lpstr>Arial</vt:lpstr>
      <vt:lpstr>Calibri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正昊 薛</cp:lastModifiedBy>
  <cp:revision>3</cp:revision>
  <dcterms:created xsi:type="dcterms:W3CDTF">2013-01-27T09:14:16Z</dcterms:created>
  <dcterms:modified xsi:type="dcterms:W3CDTF">2026-05-30T05:40:40Z</dcterms:modified>
  <cp:category/>
</cp:coreProperties>
</file>